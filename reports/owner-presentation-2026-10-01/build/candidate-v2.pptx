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6a97602bf3494e" /><Relationship Type="http://schemas.openxmlformats.org/officeDocument/2006/relationships/extended-properties" Target="/docProps/app.xml" Id="R151caf484646485f" /><Relationship Type="http://schemas.openxmlformats.org/officeDocument/2006/relationships/officeDocument" Target="/ppt/presentation.xml" Id="R68c2bbf4ad904d20" /></Relationships>
</file>

<file path=ppt/presentation.xml><?xml version="1.0" encoding="utf-8"?>
<p:presentation xmlns:p="http://schemas.openxmlformats.org/presentationml/2006/main">
  <p:sldMasterIdLst>
    <p:sldMasterId xmlns:r="http://schemas.openxmlformats.org/officeDocument/2006/relationships" id="2147483648" r:id="Rbfebbc403b4348f2"/>
  </p:sldMasterIdLst>
  <p:notesMasterIdLst>
    <p:notesMasterId xmlns:r="http://schemas.openxmlformats.org/officeDocument/2006/relationships" r:id="Reee12cacb5cd40d2"/>
  </p:notesMasterIdLst>
  <p:sldIdLst>
    <p:sldId xmlns:r="http://schemas.openxmlformats.org/officeDocument/2006/relationships" id="256" r:id="Rc51ce62eb41c4209"/>
    <p:sldId xmlns:r="http://schemas.openxmlformats.org/officeDocument/2006/relationships" id="257" r:id="Rfa8703db8a854256"/>
    <p:sldId xmlns:r="http://schemas.openxmlformats.org/officeDocument/2006/relationships" id="258" r:id="R05b8f0b53f034f10"/>
    <p:sldId xmlns:r="http://schemas.openxmlformats.org/officeDocument/2006/relationships" id="259" r:id="R7eef56c735b0400c"/>
    <p:sldId xmlns:r="http://schemas.openxmlformats.org/officeDocument/2006/relationships" id="260" r:id="Rec963c7ddc0548ae"/>
    <p:sldId xmlns:r="http://schemas.openxmlformats.org/officeDocument/2006/relationships" id="261" r:id="Rb7f7c05724ab4986"/>
    <p:sldId xmlns:r="http://schemas.openxmlformats.org/officeDocument/2006/relationships" id="262" r:id="Re0a5d2a774bd44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c5d15efadd40a3" /><Relationship Type="http://schemas.openxmlformats.org/officeDocument/2006/relationships/slideMaster" Target="/ppt/slideMasters/slideMaster1.xml" Id="Rbfebbc403b4348f2" /><Relationship Type="http://schemas.openxmlformats.org/officeDocument/2006/relationships/notesMaster" Target="/ppt/notesMasters/notesMaster1.xml" Id="Reee12cacb5cd40d2" /><Relationship Type="http://schemas.openxmlformats.org/officeDocument/2006/relationships/presProps" Target="/ppt/presProps.xml" Id="R27fff4d742d8425e" /><Relationship Type="http://schemas.openxmlformats.org/officeDocument/2006/relationships/tableStyles" Target="/ppt/tableStyles.xml" Id="R4f7631b211464e0d" /><Relationship Type="http://schemas.openxmlformats.org/officeDocument/2006/relationships/slide" Target="/ppt/slides/slide1.xml" Id="Rc51ce62eb41c4209" /><Relationship Type="http://schemas.openxmlformats.org/officeDocument/2006/relationships/slide" Target="/ppt/slides/slide2.xml" Id="Rfa8703db8a854256" /><Relationship Type="http://schemas.openxmlformats.org/officeDocument/2006/relationships/slide" Target="/ppt/slides/slide3.xml" Id="R05b8f0b53f034f10" /><Relationship Type="http://schemas.openxmlformats.org/officeDocument/2006/relationships/slide" Target="/ppt/slides/slide4.xml" Id="R7eef56c735b0400c" /><Relationship Type="http://schemas.openxmlformats.org/officeDocument/2006/relationships/slide" Target="/ppt/slides/slide5.xml" Id="Rec963c7ddc0548ae" /><Relationship Type="http://schemas.openxmlformats.org/officeDocument/2006/relationships/slide" Target="/ppt/slides/slide6.xml" Id="Rb7f7c05724ab4986" /><Relationship Type="http://schemas.openxmlformats.org/officeDocument/2006/relationships/slide" Target="/ppt/slides/slide7.xml" Id="Re0a5d2a774bd44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ac37924aa348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0f19119fa04bbf" /><Relationship Type="http://schemas.openxmlformats.org/officeDocument/2006/relationships/notesMaster" Target="/ppt/notesMasters/notesMaster1.xml" Id="R6679109bf0fd4b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43b104ba4a4acd" /><Relationship Type="http://schemas.openxmlformats.org/officeDocument/2006/relationships/notesMaster" Target="/ppt/notesMasters/notesMaster1.xml" Id="R13f86535da264f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c584fe66ab486b" /><Relationship Type="http://schemas.openxmlformats.org/officeDocument/2006/relationships/notesMaster" Target="/ppt/notesMasters/notesMaster1.xml" Id="R8390b0a7be244b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3f6163540a43e1" /><Relationship Type="http://schemas.openxmlformats.org/officeDocument/2006/relationships/notesMaster" Target="/ppt/notesMasters/notesMaster1.xml" Id="R636eb700856b4c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d17153682c4398" /><Relationship Type="http://schemas.openxmlformats.org/officeDocument/2006/relationships/notesMaster" Target="/ppt/notesMasters/notesMaster1.xml" Id="Rc8b888a029904d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0684a50b3d4b0f" /><Relationship Type="http://schemas.openxmlformats.org/officeDocument/2006/relationships/notesMaster" Target="/ppt/notesMasters/notesMaster1.xml" Id="R8ed228d253484c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251a38dc6940a7" /><Relationship Type="http://schemas.openxmlformats.org/officeDocument/2006/relationships/notesMaster" Target="/ppt/notesMasters/notesMaster1.xml" Id="R2b7c988d65e346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a:t>
            </a:r>
          </a:p>
          <a:p xmlns:a="http://schemas.openxmlformats.org/drawingml/2006/main">
            <a:r>
              <a:t>«La idea nace de una necesidad concreta: cuando un cliente pregunta por un terreno, poder encontrarlo y consultar su información sin recorrer varias hojas. ARA Map reúne esa consulta en un mapa y permite guardar y comparar las fuentes. Hoy veremos el flujo que ya funciona y acordaremos qué falta para utilizarlo de forma habitual.»</a:t>
            </a:r>
          </a:p>
          <a:p xmlns:a="http://schemas.openxmlformats.org/drawingml/2006/main">
            <a:r>
              <a:t>No abrir aún el navegador. Presentar la reunión como revisión del flujo, no entrega final sin restricciones.</a:t>
            </a:r>
          </a:p>
          <a:p xmlns:a="http://schemas.openxmlformats.org/drawingml/2006/main">
            <a:r>
              <a:t/>
            </a:r>
          </a:p>
          <a:p xmlns:a="http://schemas.openxmlformats.org/drawingml/2006/main">
            <a:r>
              <a:t>FUENTES (para consulta del presentador):</a:t>
            </a:r>
          </a:p>
          <a:p xmlns:a="http://schemas.openxmlformats.org/drawingml/2006/main">
            <a:r>
              <a:t>READINESS_REPORT.md, revisión del 30 de septiembre de 2026.</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a:t>
            </a:r>
          </a:p>
          <a:p xmlns:a="http://schemas.openxmlformats.org/drawingml/2006/main">
            <a:r>
              <a:t>«El proceso tiene cuatro momentos. Se carga el archivo; se revisa cómo se interpretó; se consulta y guarda el mapa; y se comparan las fuentes cuando hace falta. Si hay una columna ambigua, el asistente pide aclararla. La revisión previa es parte del control del dato.»</a:t>
            </a:r>
          </a:p>
          <a:p xmlns:a="http://schemas.openxmlformats.org/drawingml/2006/main">
            <a:r>
              <a:t>No decir que acepta cualquier archivo o cualquier distribución. La demostración no necesita importar ni escribir datos en producción. Si piden un archivo nuevo, acordar revisarlo después en un entorno de prueba.</a:t>
            </a:r>
          </a:p>
          <a:p xmlns:a="http://schemas.openxmlformats.org/drawingml/2006/main">
            <a:r>
              <a:t/>
            </a:r>
          </a:p>
          <a:p xmlns:a="http://schemas.openxmlformats.org/drawingml/2006/main">
            <a:r>
              <a:t>FUENTES (para consulta del presentador):</a:t>
            </a:r>
          </a:p>
          <a:p xmlns:a="http://schemas.openxmlformats.org/drawingml/2006/main">
            <a:r>
              <a:t>READINESS_REPORT.md, revisión del 30 de septiembre de 2026.</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1:15–3:15 · NAVEGADOR O CAPTURA</a:t>
            </a:r>
          </a:p>
          <a:p xmlns:a="http://schemas.openxmlformats.org/drawingml/2006/main">
            <a:r>
              <a:t>Abrir https://ara-map-ivory.vercel.app en escritorio, ancho superior a 960 px. En Bases, abrir «Base Terrenos 09.26 Gerardo». Buscar «Marceñas» (o el registro aprobado durante el ensayo), abrir su ficha y usar «Ver a escala». También funciona el doble clic sobre un terreno del mapa. Cambiar entre Mapa y Tabla. Limpiar búsqueda y, si hay tiempo, filtrar por estado.</a:t>
            </a:r>
          </a:p>
          <a:p xmlns:a="http://schemas.openxmlformats.org/drawingml/2006/main">
            <a:r>
              <a:t>«Aquí respondemos dónde está y qué información tenemos. La tabla y el mapa muestran el mismo inventario. Al acercarnos, el círculo representa la superficie registrada de manera aproximada; no sustituye un plano con los límites del predio.»</a:t>
            </a:r>
          </a:p>
          <a:p xmlns:a="http://schemas.openxmlformats.org/drawingml/2006/main">
            <a:r>
              <a:t>Marceñas muestra una discrepancia de precio: decir que es un dato pendiente de revisión, no una cotización. Si falla la conexión, permanecer en esta captura y describir el mismo recorrido sin afirmar que está ocurriendo en vivo.</a:t>
            </a:r>
          </a:p>
          <a:p xmlns:a="http://schemas.openxmlformats.org/drawingml/2006/main">
            <a:r>
              <a:t/>
            </a:r>
          </a:p>
          <a:p xmlns:a="http://schemas.openxmlformats.org/drawingml/2006/main">
            <a:r>
              <a:t>FUENTES (para consulta del presentador):</a:t>
            </a:r>
          </a:p>
          <a:p xmlns:a="http://schemas.openxmlformats.org/drawingml/2006/main">
            <a:r>
              <a:t>READINESS_REPORT.md, §§2–3; evidence/live-populated-map.png; evidence/live-focused.json.</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3:15–5:15 · NAVEGADOR O CAPTURA</a:t>
            </a:r>
          </a:p>
          <a:p xmlns:a="http://schemas.openxmlformats.org/drawingml/2006/main">
            <a:r>
              <a:t>Ir a Mapas guardados. Mostrar la organización existente sin crear ni mover nada. Abrir la comparación larga «Base Terrenos 09.26 Ficticia vs Base Terrenos 08.26 Ficticia vs Base Terrenos 09.26 copy». Aclarar que Fake 1 y Fake 2 son ficticios. Activar Fake 1 si está oculta y mostrar que cada capa se puede ocultar y volver a mostrar. Quitar filtros antes de exportar. Exportar Excel y mostrar sus pestañas; usar la exportación comprobada durante el ensayo si abrir Excel demora.</a:t>
            </a:r>
          </a:p>
          <a:p xmlns:a="http://schemas.openxmlformats.org/drawingml/2006/main">
            <a:r>
              <a:t>«Podemos conservar vistas, organizarlas y reunir varias fuentes. Cada capa conserva su identidad. La exportación separa las fuentes en hojas, lo que permite seguir trabajando en Excel.»</a:t>
            </a:r>
          </a:p>
          <a:p xmlns:a="http://schemas.openxmlformats.org/drawingml/2006/main">
            <a:r>
              <a:t>Una vista guardada es una fotografía de sus datos: no prometer que se actualiza sola. Ocultar una capa o filtrar afecta el contenido de la exportación desde la interfaz. No presentar el Excel como respaldo completo de todos los campos adicionales.</a:t>
            </a:r>
          </a:p>
          <a:p xmlns:a="http://schemas.openxmlformats.org/drawingml/2006/main">
            <a:r>
              <a:t/>
            </a:r>
          </a:p>
          <a:p xmlns:a="http://schemas.openxmlformats.org/drawingml/2006/main">
            <a:r>
              <a:t>FUENTES (para consulta del presentador):</a:t>
            </a:r>
          </a:p>
          <a:p xmlns:a="http://schemas.openxmlformats.org/drawingml/2006/main">
            <a:r>
              <a:t>READINESS_REPORT.md, §§2–3, 6; evidence/live-comparison.png; evidence/live-data-and-exports.json.</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5:15–6:00</a:t>
            </a:r>
          </a:p>
          <a:p xmlns:a="http://schemas.openxmlformats.org/drawingml/2006/main">
            <a:r>
              <a:t>«La herramienta ayuda a consultar la información y también deja visible lo que falta. En esta base hay 79 terrenos, pero solo 39 tienen ubicación utilizable. En Marceñas, el total registrado no coincide con 64,429 metros cuadrados por 600 pesos por metro cuadrado. El sistema muestra la advertencia: la empresa debe confirmar cuál dato es correcto antes de cotizar.»</a:t>
            </a:r>
          </a:p>
          <a:p xmlns:a="http://schemas.openxmlformats.org/drawingml/2006/main">
            <a:r>
              <a:t>No afirmar que la aplicación corrigió el precio ni que todos los terrenos están georreferenciados. Los 40 sin ubicación se cuentan en la base; no son 40 registros borrados. No sumar estas cifras entre bases para obtener propiedades únicas.</a:t>
            </a:r>
          </a:p>
          <a:p xmlns:a="http://schemas.openxmlformats.org/drawingml/2006/main">
            <a:r>
              <a:t/>
            </a:r>
          </a:p>
          <a:p xmlns:a="http://schemas.openxmlformats.org/drawingml/2006/main">
            <a:r>
              <a:t>FUENTES (para consulta del presentador):</a:t>
            </a:r>
          </a:p>
          <a:p xmlns:a="http://schemas.openxmlformats.org/drawingml/2006/main">
            <a:r>
              <a:t>READINESS_REPORT.md, §3B; evidence/live-data-and-exports.json; evidence/live-detail.png. Cálculo: 64,429 × 600 = 38,657,400 con la superficie redondeada en pantalla; el aviso usa la superficie subyacente y muestra 38,657,322. Las cifras de la diapositiva transcriben el aviso real; no se recalculan a partir del redondeo.</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6:00–7:00</a:t>
            </a:r>
          </a:p>
          <a:p xmlns:a="http://schemas.openxmlformats.org/drawingml/2006/main">
            <a:r>
              <a:t>«El flujo principal está listo para una demostración preparada en computadora. Antes de entregarlo para uso habitual, quedan correcciones del importador, la búsqueda en pantallas pequeñas y una decisión de acceso. Hoy el inicio de sesión permite editar, pero consultar y descargar no exige entrar. Necesitamos confirmar si esto será un catálogo visible o una herramienta interna.»</a:t>
            </a:r>
          </a:p>
          <a:p xmlns:a="http://schemas.openxmlformats.org/drawingml/2006/main">
            <a:r>
              <a:t>«La inteligencia artificial todavía no está activada. No es necesaria para este recorrido ni se está presentando como una función evaluada con un proveedor real.»</a:t>
            </a:r>
          </a:p>
          <a:p xmlns:a="http://schemas.openxmlformats.org/drawingml/2006/main">
            <a:r>
              <a:t>No decir que las correcciones locales ya están desplegadas. Si preguntan por formatos arbitrarios, responder que se validará una lista concreta de archivos y casos de uso.</a:t>
            </a:r>
          </a:p>
          <a:p xmlns:a="http://schemas.openxmlformats.org/drawingml/2006/main">
            <a:r>
              <a:t/>
            </a:r>
          </a:p>
          <a:p xmlns:a="http://schemas.openxmlformats.org/drawingml/2006/main">
            <a:r>
              <a:t>FUENTES (para consulta del presentador):</a:t>
            </a:r>
          </a:p>
          <a:p xmlns:a="http://schemas.openxmlformats.org/drawingml/2006/main">
            <a:r>
              <a:t>READINESS_REPORT.md, revisión del 30 de septiembre de 2026.</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7:00–8:00</a:t>
            </a:r>
          </a:p>
          <a:p xmlns:a="http://schemas.openxmlformats.org/drawingml/2006/main">
            <a:r>
              <a:t>«Propongo acordar un archivo real y las consultas que usaremos para aceptar la primera versión. Con ese criterio cerramos los pendientes y hacemos un piloto con la persona que lo va a usar. La mejora que priorizaría es una forma sencilla de completar ubicaciones y precios faltantes. Después tendría sentido generar una ficha para el cliente.»</a:t>
            </a:r>
          </a:p>
          <a:p xmlns:a="http://schemas.openxmlformats.org/drawingml/2006/main">
            <a:r>
              <a:t>«¿Qué archivo y qué consulta usamos para aceptar la primera versión?»</a:t>
            </a:r>
          </a:p>
          <a:p xmlns:a="http://schemas.openxmlformats.org/drawingml/2006/main">
            <a:r>
              <a:t>Escuchar y anotar responsables de datos, usuarios, dispositivos y privacidad. Estas mejoras son propuestas, no funciones existentes ni compromisos de fecha. Si surge el precio: ofrecer una propuesta con alcance, aceptación, soporte y costos externos por separado; no improvisar una cifra.</a:t>
            </a:r>
          </a:p>
          <a:p xmlns:a="http://schemas.openxmlformats.org/drawingml/2006/main">
            <a:r>
              <a:t/>
            </a:r>
          </a:p>
          <a:p xmlns:a="http://schemas.openxmlformats.org/drawingml/2006/main">
            <a:r>
              <a:t>FUENTES (para consulta del presentador):</a:t>
            </a:r>
          </a:p>
          <a:p xmlns:a="http://schemas.openxmlformats.org/drawingml/2006/main">
            <a:r>
              <a:t>READINESS_REPORT.md, revisión del 30 de septiembre de 2026.</a:t>
            </a:r>
          </a:p>
          <a:p xmlns:a="http://schemas.openxmlformats.org/drawingml/2006/main">
            <a:r>
              <a:t>Carpeta: reports/readiness-2026-09-30/. Capturas y cifras corresponden a esa revisión; confirmar antes de presentar.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2569e9a0944f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51af9d0f494af0" /><Relationship Type="http://schemas.openxmlformats.org/officeDocument/2006/relationships/slideLayout" Target="/ppt/slideLayouts/slideLayout1.xml" Id="R6470880305364b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70880305364b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7840d554fa4b24" /><Relationship Type="http://schemas.openxmlformats.org/officeDocument/2006/relationships/image" Target="/ppt/media/image.png" Id="R74a08b010c014ccd" /><Relationship Type="http://schemas.openxmlformats.org/officeDocument/2006/relationships/notesSlide" Target="/ppt/notesSlides/notesSlide1.xml" Id="R410af91fda4c48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57eac0fe8b488c" /><Relationship Type="http://schemas.openxmlformats.org/officeDocument/2006/relationships/notesSlide" Target="/ppt/notesSlides/notesSlide2.xml" Id="Re5439061c01449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8420d2f03c4097" /><Relationship Type="http://schemas.openxmlformats.org/officeDocument/2006/relationships/image" Target="/ppt/media/image2.png" Id="R705bcd3b7ff84340" /><Relationship Type="http://schemas.openxmlformats.org/officeDocument/2006/relationships/notesSlide" Target="/ppt/notesSlides/notesSlide3.xml" Id="R021cb1d6a7c640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c165adabf24c75" /><Relationship Type="http://schemas.openxmlformats.org/officeDocument/2006/relationships/image" Target="/ppt/media/image3.png" Id="R12739cd8cfcd4a55" /><Relationship Type="http://schemas.openxmlformats.org/officeDocument/2006/relationships/notesSlide" Target="/ppt/notesSlides/notesSlide4.xml" Id="R5bf3226c77cb41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7010162ae64b79" /><Relationship Type="http://schemas.openxmlformats.org/officeDocument/2006/relationships/notesSlide" Target="/ppt/notesSlides/notesSlide5.xml" Id="R055c6407ff3a4c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b6696ecebc744b7" /><Relationship Type="http://schemas.openxmlformats.org/officeDocument/2006/relationships/notesSlide" Target="/ppt/notesSlides/notesSlide6.xml" Id="Ra6adc0a5e65e42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cdb21c2f6547d2" /><Relationship Type="http://schemas.openxmlformats.org/officeDocument/2006/relationships/notesSlide" Target="/ppt/notesSlides/notesSlide7.xml" Id="R0c503bf0cf5745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DE00C1-8A86-405F-BF32-182DBFBCA99B}"/>
              </a:ext>
            </a:extLst>
          </p:cNvPr>
          <p:cNvSpPr>
            <a:spLocks xmlns:a="http://schemas.openxmlformats.org/drawingml/2006/main" noGrp="1"/>
          </p:cNvSpPr>
          <p:nvPr/>
        </p:nvSpPr>
        <p:spPr>
          <a:xfrm xmlns:a="http://schemas.openxmlformats.org/drawingml/2006/main">
            <a:off x="609600" y="552450"/>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34BEC"/>
                </a:solidFill>
                <a:latin typeface="Helvetica Neue"/>
                <a:ea typeface="Helvetica Neue"/>
                <a:cs typeface="Helvetica Neue"/>
              </a:defRPr>
            </a:pPr>
            <a:r>
              <a:rPr sz="1725" b="1">
                <a:solidFill>
                  <a:srgbClr val="234BEC"/>
                </a:solidFill>
                <a:latin typeface="Helvetica Neue"/>
                <a:ea typeface="Helvetica Neue"/>
                <a:cs typeface="Helvetica Neue"/>
              </a:rPr>
              <a:t>ARA MAP</a:t>
            </a:r>
          </a:p>
        </p:txBody>
      </p:sp>
      <p:sp>
        <p:nvSpPr>
          <p:cNvPr id="2" name="">
            <a:extLst xmlns:a="http://schemas.openxmlformats.org/drawingml/2006/main">
              <a:ext uri="{FF2B5EF4-FFF2-40B4-BE49-F238E27FC236}">
                <a16:creationId xmlns:a16="http://schemas.microsoft.com/office/drawing/2014/main" id="{34FFD4D3-19C5-4C55-BF15-5040E61D5102}"/>
              </a:ext>
            </a:extLst>
          </p:cNvPr>
          <p:cNvSpPr>
            <a:spLocks xmlns:a="http://schemas.openxmlformats.org/drawingml/2006/main" noGrp="1"/>
          </p:cNvSpPr>
          <p:nvPr/>
        </p:nvSpPr>
        <p:spPr>
          <a:xfrm xmlns:a="http://schemas.openxmlformats.org/drawingml/2006/main">
            <a:off x="609600" y="1714500"/>
            <a:ext cx="75247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10266B"/>
                </a:solidFill>
                <a:latin typeface="Helvetica Neue"/>
                <a:ea typeface="Helvetica Neue"/>
                <a:cs typeface="Helvetica Neue"/>
              </a:defRPr>
            </a:pPr>
            <a:r>
              <a:rPr sz="5250" b="1">
                <a:solidFill>
                  <a:srgbClr val="10266B"/>
                </a:solidFill>
                <a:latin typeface="Helvetica Neue"/>
                <a:ea typeface="Helvetica Neue"/>
                <a:cs typeface="Helvetica Neue"/>
              </a:rPr>
              <a:t>Los terrenos,</a:t>
            </a:r>
          </a:p>
          <a:p xmlns:a="http://schemas.openxmlformats.org/drawingml/2006/main">
            <a:pPr>
              <a:defRPr sz="5250" b="1">
                <a:solidFill>
                  <a:srgbClr val="10266B"/>
                </a:solidFill>
                <a:latin typeface="Helvetica Neue"/>
                <a:ea typeface="Helvetica Neue"/>
                <a:cs typeface="Helvetica Neue"/>
              </a:defRPr>
            </a:pPr>
            <a:r>
              <a:rPr sz="5250" b="1">
                <a:solidFill>
                  <a:srgbClr val="10266B"/>
                </a:solidFill>
                <a:latin typeface="Helvetica Neue"/>
                <a:ea typeface="Helvetica Neue"/>
                <a:cs typeface="Helvetica Neue"/>
              </a:rPr>
              <a:t>en un solo mapa.</a:t>
            </a:r>
          </a:p>
        </p:txBody>
      </p:sp>
      <p:sp>
        <p:nvSpPr>
          <p:cNvPr id="3" name="">
            <a:extLst xmlns:a="http://schemas.openxmlformats.org/drawingml/2006/main">
              <a:ext uri="{FF2B5EF4-FFF2-40B4-BE49-F238E27FC236}">
                <a16:creationId xmlns:a16="http://schemas.microsoft.com/office/drawing/2014/main" id="{A08A9092-3094-4460-A159-5FFB4DDBBC84}"/>
              </a:ext>
            </a:extLst>
          </p:cNvPr>
          <p:cNvSpPr>
            <a:spLocks xmlns:a="http://schemas.openxmlformats.org/drawingml/2006/main" noGrp="1"/>
          </p:cNvSpPr>
          <p:nvPr/>
        </p:nvSpPr>
        <p:spPr>
          <a:xfrm xmlns:a="http://schemas.openxmlformats.org/drawingml/2006/main">
            <a:off x="647700" y="383857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2339"/>
                </a:solidFill>
                <a:latin typeface="Helvetica Neue"/>
                <a:ea typeface="Helvetica Neue"/>
                <a:cs typeface="Helvetica Neue"/>
              </a:defRPr>
            </a:pPr>
            <a:r>
              <a:rPr sz="2400" b="0">
                <a:solidFill>
                  <a:srgbClr val="182339"/>
                </a:solidFill>
                <a:latin typeface="Helvetica Neue"/>
                <a:ea typeface="Helvetica Neue"/>
                <a:cs typeface="Helvetica Neue"/>
              </a:rPr>
              <a:t>Ubicar. Consultar. Comparar.</a:t>
            </a:r>
          </a:p>
        </p:txBody>
      </p:sp>
      <p:sp>
        <p:nvSpPr>
          <p:cNvPr id="4" name="">
            <a:extLst xmlns:a="http://schemas.openxmlformats.org/drawingml/2006/main">
              <a:ext uri="{FF2B5EF4-FFF2-40B4-BE49-F238E27FC236}">
                <a16:creationId xmlns:a16="http://schemas.microsoft.com/office/drawing/2014/main" id="{A19D3946-D599-40B9-AF5B-569453A3CB42}"/>
              </a:ext>
            </a:extLst>
          </p:cNvPr>
          <p:cNvSpPr>
            <a:spLocks xmlns:a="http://schemas.openxmlformats.org/drawingml/2006/main" noGrp="1"/>
          </p:cNvSpPr>
          <p:nvPr/>
        </p:nvSpPr>
        <p:spPr>
          <a:xfrm xmlns:a="http://schemas.openxmlformats.org/drawingml/2006/main">
            <a:off x="647700" y="5429250"/>
            <a:ext cx="752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477"/>
                </a:solidFill>
                <a:latin typeface="Helvetica Neue"/>
                <a:ea typeface="Helvetica Neue"/>
                <a:cs typeface="Helvetica Neue"/>
              </a:defRPr>
            </a:pPr>
            <a:r>
              <a:rPr sz="1725" b="0">
                <a:solidFill>
                  <a:srgbClr val="596477"/>
                </a:solidFill>
                <a:latin typeface="Helvetica Neue"/>
                <a:ea typeface="Helvetica Neue"/>
                <a:cs typeface="Helvetica Neue"/>
              </a:rPr>
              <a:t>Demostración para la dirección</a:t>
            </a:r>
          </a:p>
          <a:p xmlns:a="http://schemas.openxmlformats.org/drawingml/2006/main">
            <a:pPr>
              <a:defRPr sz="1725" b="0">
                <a:solidFill>
                  <a:srgbClr val="596477"/>
                </a:solidFill>
                <a:latin typeface="Helvetica Neue"/>
                <a:ea typeface="Helvetica Neue"/>
                <a:cs typeface="Helvetica Neue"/>
              </a:defRPr>
            </a:pPr>
            <a:r>
              <a:rPr sz="1725" b="0">
                <a:solidFill>
                  <a:srgbClr val="596477"/>
                </a:solidFill>
                <a:latin typeface="Helvetica Neue"/>
                <a:ea typeface="Helvetica Neue"/>
                <a:cs typeface="Helvetica Neue"/>
              </a:rPr>
              <a:t>1 de octubre de 2026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4a08b010c014ccd"/>
          <a:stretch xmlns:a="http://schemas.openxmlformats.org/drawingml/2006/main"/>
        </p:blipFill>
        <p:spPr>
          <a:xfrm xmlns:a="http://schemas.openxmlformats.org/drawingml/2006/main">
            <a:off x="8727411" y="2000250"/>
            <a:ext cx="2652453" cy="2428875"/>
          </a:xfrm>
          <a:prstGeom xmlns:a="http://schemas.openxmlformats.org/drawingml/2006/main" prst="rect">
            <a:avLst/>
          </a:prstGeom>
        </p:spPr>
      </p:pic>
    </p:spTree>
    <p:extLst>
      <p:ext uri="{BB962C8B-B14F-4D97-AF65-F5344CB8AC3E}">
        <p14:creationId xmlns:p14="http://schemas.microsoft.com/office/powerpoint/2010/main" val="5362973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65997AA-1ADB-4055-A418-4C13A8A652A5}"/>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31558197-017F-4C89-8155-426BDB035363}"/>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Del archivo a la consulta</a:t>
            </a:r>
          </a:p>
        </p:txBody>
      </p:sp>
      <p:sp>
        <p:nvSpPr>
          <p:cNvPr id="3" name="">
            <a:extLst xmlns:a="http://schemas.openxmlformats.org/drawingml/2006/main">
              <a:ext uri="{FF2B5EF4-FFF2-40B4-BE49-F238E27FC236}">
                <a16:creationId xmlns:a16="http://schemas.microsoft.com/office/drawing/2014/main" id="{DC110BF9-CE98-4F58-91F2-43056574C9E3}"/>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581E4700-C64F-41B5-ACD2-58DDAC35E54B}"/>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79589012-9C04-4B1B-9EAF-012F327157B3}"/>
              </a:ext>
            </a:extLst>
          </p:cNvPr>
          <p:cNvSpPr>
            <a:spLocks xmlns:a="http://schemas.openxmlformats.org/drawingml/2006/main" noGrp="1"/>
          </p:cNvSpPr>
          <p:nvPr/>
        </p:nvSpPr>
        <p:spPr>
          <a:xfrm xmlns:a="http://schemas.openxmlformats.org/drawingml/2006/main">
            <a:off x="552450" y="213360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34BEC"/>
                </a:solidFill>
                <a:latin typeface="Helvetica Neue"/>
                <a:ea typeface="Helvetica Neue"/>
                <a:cs typeface="Helvetica Neue"/>
              </a:defRPr>
            </a:pPr>
            <a:r>
              <a:rPr sz="4350" b="0">
                <a:solidFill>
                  <a:srgbClr val="234BEC"/>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F603C891-0DF7-4463-8D5C-2F00DB352BFB}"/>
              </a:ext>
            </a:extLst>
          </p:cNvPr>
          <p:cNvSpPr>
            <a:spLocks xmlns:a="http://schemas.openxmlformats.org/drawingml/2006/main" noGrp="1"/>
          </p:cNvSpPr>
          <p:nvPr/>
        </p:nvSpPr>
        <p:spPr>
          <a:xfrm xmlns:a="http://schemas.openxmlformats.org/drawingml/2006/main">
            <a:off x="552450" y="3238500"/>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Cargar</a:t>
            </a:r>
          </a:p>
        </p:txBody>
      </p:sp>
      <p:sp>
        <p:nvSpPr>
          <p:cNvPr id="7" name="">
            <a:extLst xmlns:a="http://schemas.openxmlformats.org/drawingml/2006/main">
              <a:ext uri="{FF2B5EF4-FFF2-40B4-BE49-F238E27FC236}">
                <a16:creationId xmlns:a16="http://schemas.microsoft.com/office/drawing/2014/main" id="{8BE561E1-F8FE-4620-8EAF-D62C167BA711}"/>
              </a:ext>
            </a:extLst>
          </p:cNvPr>
          <p:cNvSpPr>
            <a:spLocks xmlns:a="http://schemas.openxmlformats.org/drawingml/2006/main" noGrp="1"/>
          </p:cNvSpPr>
          <p:nvPr/>
        </p:nvSpPr>
        <p:spPr>
          <a:xfrm xmlns:a="http://schemas.openxmlformats.org/drawingml/2006/main">
            <a:off x="552450" y="4000500"/>
            <a:ext cx="2552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Excel o CSV con</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datos de terrenos.</a:t>
            </a:r>
          </a:p>
        </p:txBody>
      </p:sp>
      <p:sp>
        <p:nvSpPr>
          <p:cNvPr id="8" name="">
            <a:extLst xmlns:a="http://schemas.openxmlformats.org/drawingml/2006/main">
              <a:ext uri="{FF2B5EF4-FFF2-40B4-BE49-F238E27FC236}">
                <a16:creationId xmlns:a16="http://schemas.microsoft.com/office/drawing/2014/main" id="{99BBEF8D-937E-4E4E-955E-8C14B8CC690F}"/>
              </a:ext>
            </a:extLst>
          </p:cNvPr>
          <p:cNvSpPr>
            <a:spLocks xmlns:a="http://schemas.openxmlformats.org/drawingml/2006/main" noGrp="1"/>
          </p:cNvSpPr>
          <p:nvPr/>
        </p:nvSpPr>
        <p:spPr>
          <a:xfrm xmlns:a="http://schemas.openxmlformats.org/drawingml/2006/main">
            <a:off x="3419475" y="213360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34BEC"/>
                </a:solidFill>
                <a:latin typeface="Helvetica Neue"/>
                <a:ea typeface="Helvetica Neue"/>
                <a:cs typeface="Helvetica Neue"/>
              </a:defRPr>
            </a:pPr>
            <a:r>
              <a:rPr sz="4350" b="0">
                <a:solidFill>
                  <a:srgbClr val="234BEC"/>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8F4AFFF1-416A-45D5-AEBF-717419592757}"/>
              </a:ext>
            </a:extLst>
          </p:cNvPr>
          <p:cNvSpPr>
            <a:spLocks xmlns:a="http://schemas.openxmlformats.org/drawingml/2006/main" noGrp="1"/>
          </p:cNvSpPr>
          <p:nvPr/>
        </p:nvSpPr>
        <p:spPr>
          <a:xfrm xmlns:a="http://schemas.openxmlformats.org/drawingml/2006/main">
            <a:off x="3419475" y="3238500"/>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Revisar</a:t>
            </a:r>
          </a:p>
        </p:txBody>
      </p:sp>
      <p:sp>
        <p:nvSpPr>
          <p:cNvPr id="10" name="">
            <a:extLst xmlns:a="http://schemas.openxmlformats.org/drawingml/2006/main">
              <a:ext uri="{FF2B5EF4-FFF2-40B4-BE49-F238E27FC236}">
                <a16:creationId xmlns:a16="http://schemas.microsoft.com/office/drawing/2014/main" id="{A8F660E4-ADFA-49FA-A49D-4F0B4BDD5D2F}"/>
              </a:ext>
            </a:extLst>
          </p:cNvPr>
          <p:cNvSpPr>
            <a:spLocks xmlns:a="http://schemas.openxmlformats.org/drawingml/2006/main" noGrp="1"/>
          </p:cNvSpPr>
          <p:nvPr/>
        </p:nvSpPr>
        <p:spPr>
          <a:xfrm xmlns:a="http://schemas.openxmlformats.org/drawingml/2006/main">
            <a:off x="3419475" y="4000500"/>
            <a:ext cx="2552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Confirmar columnas</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y resolver dudas.</a:t>
            </a:r>
          </a:p>
        </p:txBody>
      </p:sp>
      <p:sp>
        <p:nvSpPr>
          <p:cNvPr id="11" name="">
            <a:extLst xmlns:a="http://schemas.openxmlformats.org/drawingml/2006/main">
              <a:ext uri="{FF2B5EF4-FFF2-40B4-BE49-F238E27FC236}">
                <a16:creationId xmlns:a16="http://schemas.microsoft.com/office/drawing/2014/main" id="{812FDCCF-BE1F-49BC-AD75-24FAD94DBB1F}"/>
              </a:ext>
            </a:extLst>
          </p:cNvPr>
          <p:cNvSpPr>
            <a:spLocks xmlns:a="http://schemas.openxmlformats.org/drawingml/2006/main" noGrp="1"/>
          </p:cNvSpPr>
          <p:nvPr/>
        </p:nvSpPr>
        <p:spPr>
          <a:xfrm xmlns:a="http://schemas.openxmlformats.org/drawingml/2006/main">
            <a:off x="6286500" y="213360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34BEC"/>
                </a:solidFill>
                <a:latin typeface="Helvetica Neue"/>
                <a:ea typeface="Helvetica Neue"/>
                <a:cs typeface="Helvetica Neue"/>
              </a:defRPr>
            </a:pPr>
            <a:r>
              <a:rPr sz="4350" b="0">
                <a:solidFill>
                  <a:srgbClr val="234BEC"/>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DA3E3ACE-80E4-41F7-8D21-480BE34D184D}"/>
              </a:ext>
            </a:extLst>
          </p:cNvPr>
          <p:cNvSpPr>
            <a:spLocks xmlns:a="http://schemas.openxmlformats.org/drawingml/2006/main" noGrp="1"/>
          </p:cNvSpPr>
          <p:nvPr/>
        </p:nvSpPr>
        <p:spPr>
          <a:xfrm xmlns:a="http://schemas.openxmlformats.org/drawingml/2006/main">
            <a:off x="6286500" y="3238500"/>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Consultar</a:t>
            </a:r>
          </a:p>
        </p:txBody>
      </p:sp>
      <p:sp>
        <p:nvSpPr>
          <p:cNvPr id="13" name="">
            <a:extLst xmlns:a="http://schemas.openxmlformats.org/drawingml/2006/main">
              <a:ext uri="{FF2B5EF4-FFF2-40B4-BE49-F238E27FC236}">
                <a16:creationId xmlns:a16="http://schemas.microsoft.com/office/drawing/2014/main" id="{42091874-DA19-45C4-B23E-4FA2A08411DF}"/>
              </a:ext>
            </a:extLst>
          </p:cNvPr>
          <p:cNvSpPr>
            <a:spLocks xmlns:a="http://schemas.openxmlformats.org/drawingml/2006/main" noGrp="1"/>
          </p:cNvSpPr>
          <p:nvPr/>
        </p:nvSpPr>
        <p:spPr>
          <a:xfrm xmlns:a="http://schemas.openxmlformats.org/drawingml/2006/main">
            <a:off x="6286500" y="4000500"/>
            <a:ext cx="2552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Buscar en el mapa</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y guardar vistas.</a:t>
            </a:r>
          </a:p>
        </p:txBody>
      </p:sp>
      <p:sp>
        <p:nvSpPr>
          <p:cNvPr id="14" name="">
            <a:extLst xmlns:a="http://schemas.openxmlformats.org/drawingml/2006/main">
              <a:ext uri="{FF2B5EF4-FFF2-40B4-BE49-F238E27FC236}">
                <a16:creationId xmlns:a16="http://schemas.microsoft.com/office/drawing/2014/main" id="{ABBC17DD-F539-4928-AF0A-13B7C0691AC7}"/>
              </a:ext>
            </a:extLst>
          </p:cNvPr>
          <p:cNvSpPr>
            <a:spLocks xmlns:a="http://schemas.openxmlformats.org/drawingml/2006/main" noGrp="1"/>
          </p:cNvSpPr>
          <p:nvPr/>
        </p:nvSpPr>
        <p:spPr>
          <a:xfrm xmlns:a="http://schemas.openxmlformats.org/drawingml/2006/main">
            <a:off x="9153525" y="213360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34BEC"/>
                </a:solidFill>
                <a:latin typeface="Helvetica Neue"/>
                <a:ea typeface="Helvetica Neue"/>
                <a:cs typeface="Helvetica Neue"/>
              </a:defRPr>
            </a:pPr>
            <a:r>
              <a:rPr sz="4350" b="0">
                <a:solidFill>
                  <a:srgbClr val="234BEC"/>
                </a:solidFill>
                <a:latin typeface="Helvetica Neue"/>
                <a:ea typeface="Helvetica Neue"/>
                <a:cs typeface="Helvetica Neue"/>
              </a:rPr>
              <a:t>04</a:t>
            </a:r>
          </a:p>
        </p:txBody>
      </p:sp>
      <p:sp>
        <p:nvSpPr>
          <p:cNvPr id="15" name="">
            <a:extLst xmlns:a="http://schemas.openxmlformats.org/drawingml/2006/main">
              <a:ext uri="{FF2B5EF4-FFF2-40B4-BE49-F238E27FC236}">
                <a16:creationId xmlns:a16="http://schemas.microsoft.com/office/drawing/2014/main" id="{51066C3F-C385-4262-B8E8-D8B8C36F3C7F}"/>
              </a:ext>
            </a:extLst>
          </p:cNvPr>
          <p:cNvSpPr>
            <a:spLocks xmlns:a="http://schemas.openxmlformats.org/drawingml/2006/main" noGrp="1"/>
          </p:cNvSpPr>
          <p:nvPr/>
        </p:nvSpPr>
        <p:spPr>
          <a:xfrm xmlns:a="http://schemas.openxmlformats.org/drawingml/2006/main">
            <a:off x="9153525" y="3238500"/>
            <a:ext cx="2524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Comparar</a:t>
            </a:r>
          </a:p>
        </p:txBody>
      </p:sp>
      <p:sp>
        <p:nvSpPr>
          <p:cNvPr id="16" name="">
            <a:extLst xmlns:a="http://schemas.openxmlformats.org/drawingml/2006/main">
              <a:ext uri="{FF2B5EF4-FFF2-40B4-BE49-F238E27FC236}">
                <a16:creationId xmlns:a16="http://schemas.microsoft.com/office/drawing/2014/main" id="{7B42910A-8782-43A7-BBDB-61D506886A5D}"/>
              </a:ext>
            </a:extLst>
          </p:cNvPr>
          <p:cNvSpPr>
            <a:spLocks xmlns:a="http://schemas.openxmlformats.org/drawingml/2006/main" noGrp="1"/>
          </p:cNvSpPr>
          <p:nvPr/>
        </p:nvSpPr>
        <p:spPr>
          <a:xfrm xmlns:a="http://schemas.openxmlformats.org/drawingml/2006/main">
            <a:off x="9153525" y="4000500"/>
            <a:ext cx="2552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Reunir fuentes y</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exportar a Excel.</a:t>
            </a:r>
          </a:p>
        </p:txBody>
      </p:sp>
      <p:sp>
        <p:nvSpPr>
          <p:cNvPr id="17" name="">
            <a:extLst xmlns:a="http://schemas.openxmlformats.org/drawingml/2006/main">
              <a:ext uri="{FF2B5EF4-FFF2-40B4-BE49-F238E27FC236}">
                <a16:creationId xmlns:a16="http://schemas.microsoft.com/office/drawing/2014/main" id="{5AC90D3D-8EA2-440C-8F9A-4E5544F40E33}"/>
              </a:ext>
            </a:extLst>
          </p:cNvPr>
          <p:cNvSpPr>
            <a:spLocks xmlns:a="http://schemas.openxmlformats.org/drawingml/2006/main" noGrp="1"/>
          </p:cNvSpPr>
          <p:nvPr/>
        </p:nvSpPr>
        <p:spPr>
          <a:xfrm xmlns:a="http://schemas.openxmlformats.org/drawingml/2006/main">
            <a:off x="552450" y="56388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339"/>
                </a:solidFill>
                <a:latin typeface="Helvetica Neue"/>
                <a:ea typeface="Helvetica Neue"/>
                <a:cs typeface="Helvetica Neue"/>
              </a:defRPr>
            </a:pPr>
            <a:r>
              <a:rPr sz="2025" b="0">
                <a:solidFill>
                  <a:srgbClr val="182339"/>
                </a:solidFill>
                <a:latin typeface="Helvetica Neue"/>
                <a:ea typeface="Helvetica Neue"/>
                <a:cs typeface="Helvetica Neue"/>
              </a:rPr>
              <a:t>La interpretación del archivo se revisa antes de importar.</a:t>
            </a:r>
          </a:p>
        </p:txBody>
      </p:sp>
    </p:spTree>
    <p:extLst>
      <p:ext uri="{BB962C8B-B14F-4D97-AF65-F5344CB8AC3E}">
        <p14:creationId xmlns:p14="http://schemas.microsoft.com/office/powerpoint/2010/main" val="1876919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F73E6B-D3C4-4844-AAAA-8CE7EB74A7E2}"/>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5F98AB3A-BD86-405A-9E3B-9C297FC234F1}"/>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Encontrar el terreno y abrir su información</a:t>
            </a:r>
          </a:p>
        </p:txBody>
      </p:sp>
      <p:sp>
        <p:nvSpPr>
          <p:cNvPr id="3" name="">
            <a:extLst xmlns:a="http://schemas.openxmlformats.org/drawingml/2006/main">
              <a:ext uri="{FF2B5EF4-FFF2-40B4-BE49-F238E27FC236}">
                <a16:creationId xmlns:a16="http://schemas.microsoft.com/office/drawing/2014/main" id="{B58A7CA7-1A2A-47DD-8217-6AA643C45A42}"/>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65FAA53A-8E05-42EB-AA22-6ACA5CF9FC2C}"/>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67439BF8-B726-4D76-BA80-62F5FEAD0141}"/>
              </a:ext>
            </a:extLst>
          </p:cNvPr>
          <p:cNvSpPr>
            <a:spLocks xmlns:a="http://schemas.openxmlformats.org/drawingml/2006/main" noGrp="1"/>
          </p:cNvSpPr>
          <p:nvPr/>
        </p:nvSpPr>
        <p:spPr>
          <a:xfrm xmlns:a="http://schemas.openxmlformats.org/drawingml/2006/main">
            <a:off x="552450" y="1933575"/>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66B"/>
                </a:solidFill>
                <a:latin typeface="Helvetica Neue"/>
                <a:ea typeface="Helvetica Neue"/>
                <a:cs typeface="Helvetica Neue"/>
              </a:defRPr>
            </a:pPr>
            <a:r>
              <a:rPr sz="2400" b="1">
                <a:solidFill>
                  <a:srgbClr val="10266B"/>
                </a:solidFill>
                <a:latin typeface="Helvetica Neue"/>
                <a:ea typeface="Helvetica Neue"/>
                <a:cs typeface="Helvetica Neue"/>
              </a:rPr>
              <a:t>Buscar</a:t>
            </a:r>
          </a:p>
        </p:txBody>
      </p:sp>
      <p:sp>
        <p:nvSpPr>
          <p:cNvPr id="6" name="">
            <a:extLst xmlns:a="http://schemas.openxmlformats.org/drawingml/2006/main">
              <a:ext uri="{FF2B5EF4-FFF2-40B4-BE49-F238E27FC236}">
                <a16:creationId xmlns:a16="http://schemas.microsoft.com/office/drawing/2014/main" id="{1F743D41-0AF0-489F-B066-BA684E8766A5}"/>
              </a:ext>
            </a:extLst>
          </p:cNvPr>
          <p:cNvSpPr>
            <a:spLocks xmlns:a="http://schemas.openxmlformats.org/drawingml/2006/main" noGrp="1"/>
          </p:cNvSpPr>
          <p:nvPr/>
        </p:nvSpPr>
        <p:spPr>
          <a:xfrm xmlns:a="http://schemas.openxmlformats.org/drawingml/2006/main">
            <a:off x="552450" y="2476500"/>
            <a:ext cx="295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Por nombre, municipio</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o dirección.</a:t>
            </a:r>
          </a:p>
        </p:txBody>
      </p:sp>
      <p:sp>
        <p:nvSpPr>
          <p:cNvPr id="7" name="">
            <a:extLst xmlns:a="http://schemas.openxmlformats.org/drawingml/2006/main">
              <a:ext uri="{FF2B5EF4-FFF2-40B4-BE49-F238E27FC236}">
                <a16:creationId xmlns:a16="http://schemas.microsoft.com/office/drawing/2014/main" id="{8B408823-5FDE-4ED9-B07C-090C075FB9A8}"/>
              </a:ext>
            </a:extLst>
          </p:cNvPr>
          <p:cNvSpPr>
            <a:spLocks xmlns:a="http://schemas.openxmlformats.org/drawingml/2006/main" noGrp="1"/>
          </p:cNvSpPr>
          <p:nvPr/>
        </p:nvSpPr>
        <p:spPr>
          <a:xfrm xmlns:a="http://schemas.openxmlformats.org/drawingml/2006/main">
            <a:off x="552450" y="3638550"/>
            <a:ext cx="309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66B"/>
                </a:solidFill>
                <a:latin typeface="Helvetica Neue"/>
                <a:ea typeface="Helvetica Neue"/>
                <a:cs typeface="Helvetica Neue"/>
              </a:defRPr>
            </a:pPr>
            <a:r>
              <a:rPr sz="2400" b="1">
                <a:solidFill>
                  <a:srgbClr val="10266B"/>
                </a:solidFill>
                <a:latin typeface="Helvetica Neue"/>
                <a:ea typeface="Helvetica Neue"/>
                <a:cs typeface="Helvetica Neue"/>
              </a:rPr>
              <a:t>Consultar</a:t>
            </a:r>
          </a:p>
        </p:txBody>
      </p:sp>
      <p:sp>
        <p:nvSpPr>
          <p:cNvPr id="8" name="">
            <a:extLst xmlns:a="http://schemas.openxmlformats.org/drawingml/2006/main">
              <a:ext uri="{FF2B5EF4-FFF2-40B4-BE49-F238E27FC236}">
                <a16:creationId xmlns:a16="http://schemas.microsoft.com/office/drawing/2014/main" id="{68FD910E-CE38-4745-B33D-B1C19A9E9325}"/>
              </a:ext>
            </a:extLst>
          </p:cNvPr>
          <p:cNvSpPr>
            <a:spLocks xmlns:a="http://schemas.openxmlformats.org/drawingml/2006/main" noGrp="1"/>
          </p:cNvSpPr>
          <p:nvPr/>
        </p:nvSpPr>
        <p:spPr>
          <a:xfrm xmlns:a="http://schemas.openxmlformats.org/drawingml/2006/main">
            <a:off x="552450" y="4181475"/>
            <a:ext cx="295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Datos del terreno,</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superficie y ubicación.</a:t>
            </a:r>
          </a:p>
        </p:txBody>
      </p:sp>
      <p:sp>
        <p:nvSpPr>
          <p:cNvPr id="9" name="">
            <a:extLst xmlns:a="http://schemas.openxmlformats.org/drawingml/2006/main">
              <a:ext uri="{FF2B5EF4-FFF2-40B4-BE49-F238E27FC236}">
                <a16:creationId xmlns:a16="http://schemas.microsoft.com/office/drawing/2014/main" id="{04C49CB5-12B3-4334-AC85-6742F25531C6}"/>
              </a:ext>
            </a:extLst>
          </p:cNvPr>
          <p:cNvSpPr>
            <a:spLocks xmlns:a="http://schemas.openxmlformats.org/drawingml/2006/main" noGrp="1"/>
          </p:cNvSpPr>
          <p:nvPr/>
        </p:nvSpPr>
        <p:spPr>
          <a:xfrm xmlns:a="http://schemas.openxmlformats.org/drawingml/2006/main">
            <a:off x="552450" y="5534025"/>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9A551B"/>
                </a:solidFill>
                <a:latin typeface="Helvetica Neue"/>
                <a:ea typeface="Helvetica Neue"/>
                <a:cs typeface="Helvetica Neue"/>
              </a:defRPr>
            </a:pPr>
            <a:r>
              <a:rPr sz="1575" b="0">
                <a:solidFill>
                  <a:srgbClr val="9A551B"/>
                </a:solidFill>
                <a:latin typeface="Helvetica Neue"/>
                <a:ea typeface="Helvetica Neue"/>
                <a:cs typeface="Helvetica Neue"/>
              </a:rPr>
              <a:t>Los círculos no son</a:t>
            </a:r>
          </a:p>
          <a:p xmlns:a="http://schemas.openxmlformats.org/drawingml/2006/main">
            <a:pPr>
              <a:defRPr sz="1575" b="0">
                <a:solidFill>
                  <a:srgbClr val="9A551B"/>
                </a:solidFill>
                <a:latin typeface="Helvetica Neue"/>
                <a:ea typeface="Helvetica Neue"/>
                <a:cs typeface="Helvetica Neue"/>
              </a:defRPr>
            </a:pPr>
            <a:r>
              <a:rPr sz="1575" b="0">
                <a:solidFill>
                  <a:srgbClr val="9A551B"/>
                </a:solidFill>
                <a:latin typeface="Helvetica Neue"/>
                <a:ea typeface="Helvetica Neue"/>
                <a:cs typeface="Helvetica Neue"/>
              </a:rPr>
              <a:t>los linderos del predio.</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05bcd3b7ff84340"/>
          <a:stretch xmlns:a="http://schemas.openxmlformats.org/drawingml/2006/main"/>
        </p:blipFill>
        <p:spPr>
          <a:xfrm xmlns:a="http://schemas.openxmlformats.org/drawingml/2006/main">
            <a:off x="4173855" y="1390650"/>
            <a:ext cx="7063740" cy="4905375"/>
          </a:xfrm>
          <a:prstGeom xmlns:a="http://schemas.openxmlformats.org/drawingml/2006/main" prst="rect">
            <a:avLst/>
          </a:prstGeom>
        </p:spPr>
      </p:pic>
    </p:spTree>
    <p:extLst>
      <p:ext uri="{BB962C8B-B14F-4D97-AF65-F5344CB8AC3E}">
        <p14:creationId xmlns:p14="http://schemas.microsoft.com/office/powerpoint/2010/main" val="10920626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29A749-D256-4BCC-980A-F23905ECCC42}"/>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723B1F8F-C2B7-479D-A6E8-4F8CA2A6DF7A}"/>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Volver a los mapas y comparar fuentes</a:t>
            </a:r>
          </a:p>
        </p:txBody>
      </p:sp>
      <p:sp>
        <p:nvSpPr>
          <p:cNvPr id="3" name="">
            <a:extLst xmlns:a="http://schemas.openxmlformats.org/drawingml/2006/main">
              <a:ext uri="{FF2B5EF4-FFF2-40B4-BE49-F238E27FC236}">
                <a16:creationId xmlns:a16="http://schemas.microsoft.com/office/drawing/2014/main" id="{9CF8D6D2-6EAD-46F8-BD6F-3DE7449A13C8}"/>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E258BDFA-6A35-4E42-BF35-8E0AB57AFF7F}"/>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962A4E31-67F6-48EA-896B-2EF23D5D3769}"/>
              </a:ext>
            </a:extLst>
          </p:cNvPr>
          <p:cNvSpPr>
            <a:spLocks xmlns:a="http://schemas.openxmlformats.org/drawingml/2006/main" noGrp="1"/>
          </p:cNvSpPr>
          <p:nvPr/>
        </p:nvSpPr>
        <p:spPr>
          <a:xfrm xmlns:a="http://schemas.openxmlformats.org/drawingml/2006/main">
            <a:off x="552450" y="1924050"/>
            <a:ext cx="309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66B"/>
                </a:solidFill>
                <a:latin typeface="Helvetica Neue"/>
                <a:ea typeface="Helvetica Neue"/>
                <a:cs typeface="Helvetica Neue"/>
              </a:defRPr>
            </a:pPr>
            <a:r>
              <a:rPr sz="2325" b="1">
                <a:solidFill>
                  <a:srgbClr val="10266B"/>
                </a:solidFill>
                <a:latin typeface="Helvetica Neue"/>
                <a:ea typeface="Helvetica Neue"/>
                <a:cs typeface="Helvetica Neue"/>
              </a:rPr>
              <a:t>Guardar y organizar</a:t>
            </a:r>
          </a:p>
        </p:txBody>
      </p:sp>
      <p:sp>
        <p:nvSpPr>
          <p:cNvPr id="6" name="">
            <a:extLst xmlns:a="http://schemas.openxmlformats.org/drawingml/2006/main">
              <a:ext uri="{FF2B5EF4-FFF2-40B4-BE49-F238E27FC236}">
                <a16:creationId xmlns:a16="http://schemas.microsoft.com/office/drawing/2014/main" id="{4C49485A-636D-42FE-8139-6F14FB865A8F}"/>
              </a:ext>
            </a:extLst>
          </p:cNvPr>
          <p:cNvSpPr>
            <a:spLocks xmlns:a="http://schemas.openxmlformats.org/drawingml/2006/main" noGrp="1"/>
          </p:cNvSpPr>
          <p:nvPr/>
        </p:nvSpPr>
        <p:spPr>
          <a:xfrm xmlns:a="http://schemas.openxmlformats.org/drawingml/2006/main">
            <a:off x="552450" y="2924175"/>
            <a:ext cx="29241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Bases y mapas</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organizados en carpetas.</a:t>
            </a:r>
          </a:p>
        </p:txBody>
      </p:sp>
      <p:sp>
        <p:nvSpPr>
          <p:cNvPr id="7" name="">
            <a:extLst xmlns:a="http://schemas.openxmlformats.org/drawingml/2006/main">
              <a:ext uri="{FF2B5EF4-FFF2-40B4-BE49-F238E27FC236}">
                <a16:creationId xmlns:a16="http://schemas.microsoft.com/office/drawing/2014/main" id="{833EA873-8ADF-4323-A5EF-E296AB2779C5}"/>
              </a:ext>
            </a:extLst>
          </p:cNvPr>
          <p:cNvSpPr>
            <a:spLocks xmlns:a="http://schemas.openxmlformats.org/drawingml/2006/main" noGrp="1"/>
          </p:cNvSpPr>
          <p:nvPr/>
        </p:nvSpPr>
        <p:spPr>
          <a:xfrm xmlns:a="http://schemas.openxmlformats.org/drawingml/2006/main">
            <a:off x="552450" y="4057650"/>
            <a:ext cx="310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66B"/>
                </a:solidFill>
                <a:latin typeface="Helvetica Neue"/>
                <a:ea typeface="Helvetica Neue"/>
                <a:cs typeface="Helvetica Neue"/>
              </a:defRPr>
            </a:pPr>
            <a:r>
              <a:rPr sz="2325" b="1">
                <a:solidFill>
                  <a:srgbClr val="10266B"/>
                </a:solidFill>
                <a:latin typeface="Helvetica Neue"/>
                <a:ea typeface="Helvetica Neue"/>
                <a:cs typeface="Helvetica Neue"/>
              </a:rPr>
              <a:t>Ver cada origen</a:t>
            </a:r>
          </a:p>
        </p:txBody>
      </p:sp>
      <p:sp>
        <p:nvSpPr>
          <p:cNvPr id="8" name="">
            <a:extLst xmlns:a="http://schemas.openxmlformats.org/drawingml/2006/main">
              <a:ext uri="{FF2B5EF4-FFF2-40B4-BE49-F238E27FC236}">
                <a16:creationId xmlns:a16="http://schemas.microsoft.com/office/drawing/2014/main" id="{13A642A9-16DA-4CD5-8964-5A9795933481}"/>
              </a:ext>
            </a:extLst>
          </p:cNvPr>
          <p:cNvSpPr>
            <a:spLocks xmlns:a="http://schemas.openxmlformats.org/drawingml/2006/main" noGrp="1"/>
          </p:cNvSpPr>
          <p:nvPr/>
        </p:nvSpPr>
        <p:spPr>
          <a:xfrm xmlns:a="http://schemas.openxmlformats.org/drawingml/2006/main">
            <a:off x="552450" y="4638675"/>
            <a:ext cx="2952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Capas en el mapa.</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Una hoja de Excel</a:t>
            </a:r>
          </a:p>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por fuente.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2739cd8cfcd4a55"/>
          <a:stretch xmlns:a="http://schemas.openxmlformats.org/drawingml/2006/main"/>
        </p:blipFill>
        <p:spPr>
          <a:xfrm xmlns:a="http://schemas.openxmlformats.org/drawingml/2006/main">
            <a:off x="4448175" y="1390650"/>
            <a:ext cx="6515100" cy="4524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89731EE-7F5C-430D-8A45-F957B0D634E2}"/>
              </a:ext>
            </a:extLst>
          </p:cNvPr>
          <p:cNvSpPr>
            <a:spLocks xmlns:a="http://schemas.openxmlformats.org/drawingml/2006/main" noGrp="1"/>
          </p:cNvSpPr>
          <p:nvPr/>
        </p:nvSpPr>
        <p:spPr>
          <a:xfrm xmlns:a="http://schemas.openxmlformats.org/drawingml/2006/main">
            <a:off x="3838575" y="6048375"/>
            <a:ext cx="7810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9A551B"/>
                </a:solidFill>
                <a:latin typeface="Helvetica Neue"/>
                <a:ea typeface="Helvetica Neue"/>
                <a:cs typeface="Helvetica Neue"/>
              </a:defRPr>
            </a:pPr>
            <a:r>
              <a:rPr sz="1275" b="0">
                <a:solidFill>
                  <a:srgbClr val="9A551B"/>
                </a:solidFill>
                <a:latin typeface="Helvetica Neue"/>
                <a:ea typeface="Helvetica Neue"/>
                <a:cs typeface="Helvetica Neue"/>
              </a:rPr>
              <a:t>«Fake 1» y «Fake 2» son datos ficticios de prueba.</a:t>
            </a:r>
          </a:p>
        </p:txBody>
      </p:sp>
    </p:spTree>
    <p:extLst>
      <p:ext uri="{BB962C8B-B14F-4D97-AF65-F5344CB8AC3E}">
        <p14:creationId xmlns:p14="http://schemas.microsoft.com/office/powerpoint/2010/main" val="2910501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0DC5ACE-9B2D-45F2-9E9A-42C570965A99}"/>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48870985-6EFE-4391-9EAC-4C675C77DD46}"/>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El mapa también revela qué falta revisar</a:t>
            </a:r>
          </a:p>
        </p:txBody>
      </p:sp>
      <p:sp>
        <p:nvSpPr>
          <p:cNvPr id="3" name="">
            <a:extLst xmlns:a="http://schemas.openxmlformats.org/drawingml/2006/main">
              <a:ext uri="{FF2B5EF4-FFF2-40B4-BE49-F238E27FC236}">
                <a16:creationId xmlns:a16="http://schemas.microsoft.com/office/drawing/2014/main" id="{FFF78B5F-8692-4ECB-BF56-22CFA3D82DA8}"/>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7FF011C0-EFA0-4D68-9F9B-D450BE04210A}"/>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407BD5AB-DC41-4F09-9FC5-08C9A2E2F8F6}"/>
              </a:ext>
            </a:extLst>
          </p:cNvPr>
          <p:cNvSpPr>
            <a:spLocks xmlns:a="http://schemas.openxmlformats.org/drawingml/2006/main" noGrp="1"/>
          </p:cNvSpPr>
          <p:nvPr/>
        </p:nvSpPr>
        <p:spPr>
          <a:xfrm xmlns:a="http://schemas.openxmlformats.org/drawingml/2006/main">
            <a:off x="552450" y="1847850"/>
            <a:ext cx="5286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225" b="1">
                <a:solidFill>
                  <a:srgbClr val="234BEC"/>
                </a:solidFill>
                <a:latin typeface="Helvetica Neue"/>
                <a:ea typeface="Helvetica Neue"/>
                <a:cs typeface="Helvetica Neue"/>
              </a:defRPr>
            </a:pPr>
            <a:r>
              <a:rPr sz="6225" b="1">
                <a:solidFill>
                  <a:srgbClr val="234BEC"/>
                </a:solidFill>
                <a:latin typeface="Helvetica Neue"/>
                <a:ea typeface="Helvetica Neue"/>
                <a:cs typeface="Helvetica Neue"/>
              </a:rPr>
              <a:t>39 / 79</a:t>
            </a:r>
          </a:p>
        </p:txBody>
      </p:sp>
      <p:sp>
        <p:nvSpPr>
          <p:cNvPr id="6" name="">
            <a:extLst xmlns:a="http://schemas.openxmlformats.org/drawingml/2006/main">
              <a:ext uri="{FF2B5EF4-FFF2-40B4-BE49-F238E27FC236}">
                <a16:creationId xmlns:a16="http://schemas.microsoft.com/office/drawing/2014/main" id="{F7DD5E5B-1F55-472A-8828-A2D8B855EAAD}"/>
              </a:ext>
            </a:extLst>
          </p:cNvPr>
          <p:cNvSpPr>
            <a:spLocks xmlns:a="http://schemas.openxmlformats.org/drawingml/2006/main" noGrp="1"/>
          </p:cNvSpPr>
          <p:nvPr/>
        </p:nvSpPr>
        <p:spPr>
          <a:xfrm xmlns:a="http://schemas.openxmlformats.org/drawingml/2006/main">
            <a:off x="581025" y="2952750"/>
            <a:ext cx="52482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66B"/>
                </a:solidFill>
                <a:latin typeface="Helvetica Neue"/>
                <a:ea typeface="Helvetica Neue"/>
                <a:cs typeface="Helvetica Neue"/>
              </a:defRPr>
            </a:pPr>
            <a:r>
              <a:rPr sz="2250" b="1">
                <a:solidFill>
                  <a:srgbClr val="10266B"/>
                </a:solidFill>
                <a:latin typeface="Helvetica Neue"/>
                <a:ea typeface="Helvetica Neue"/>
                <a:cs typeface="Helvetica Neue"/>
              </a:rPr>
              <a:t>terrenos con ubicación</a:t>
            </a:r>
          </a:p>
        </p:txBody>
      </p:sp>
      <p:sp>
        <p:nvSpPr>
          <p:cNvPr id="7" name="">
            <a:extLst xmlns:a="http://schemas.openxmlformats.org/drawingml/2006/main">
              <a:ext uri="{FF2B5EF4-FFF2-40B4-BE49-F238E27FC236}">
                <a16:creationId xmlns:a16="http://schemas.microsoft.com/office/drawing/2014/main" id="{270BBB80-82EC-43F8-A79E-340A060F31D2}"/>
              </a:ext>
            </a:extLst>
          </p:cNvPr>
          <p:cNvSpPr>
            <a:spLocks xmlns:a="http://schemas.openxmlformats.org/drawingml/2006/main" noGrp="1"/>
          </p:cNvSpPr>
          <p:nvPr/>
        </p:nvSpPr>
        <p:spPr>
          <a:xfrm xmlns:a="http://schemas.openxmlformats.org/drawingml/2006/main">
            <a:off x="581025" y="3829050"/>
            <a:ext cx="52101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96477"/>
                </a:solidFill>
                <a:latin typeface="Helvetica Neue"/>
                <a:ea typeface="Helvetica Neue"/>
                <a:cs typeface="Helvetica Neue"/>
              </a:defRPr>
            </a:pPr>
            <a:r>
              <a:rPr sz="2025" b="0">
                <a:solidFill>
                  <a:srgbClr val="596477"/>
                </a:solidFill>
                <a:latin typeface="Helvetica Neue"/>
                <a:ea typeface="Helvetica Neue"/>
                <a:cs typeface="Helvetica Neue"/>
              </a:rPr>
              <a:t>40 siguen fuera del mapa</a:t>
            </a:r>
          </a:p>
          <a:p xmlns:a="http://schemas.openxmlformats.org/drawingml/2006/main">
            <a:pPr>
              <a:defRPr sz="2025" b="0">
                <a:solidFill>
                  <a:srgbClr val="596477"/>
                </a:solidFill>
                <a:latin typeface="Helvetica Neue"/>
                <a:ea typeface="Helvetica Neue"/>
                <a:cs typeface="Helvetica Neue"/>
              </a:defRPr>
            </a:pPr>
            <a:r>
              <a:rPr sz="2025" b="0">
                <a:solidFill>
                  <a:srgbClr val="596477"/>
                </a:solidFill>
                <a:latin typeface="Helvetica Neue"/>
                <a:ea typeface="Helvetica Neue"/>
                <a:cs typeface="Helvetica Neue"/>
              </a:rPr>
              <a:t>por falta de coordenadas utilizables.</a:t>
            </a:r>
          </a:p>
        </p:txBody>
      </p:sp>
      <p:sp>
        <p:nvSpPr>
          <p:cNvPr id="8" name="">
            <a:extLst xmlns:a="http://schemas.openxmlformats.org/drawingml/2006/main">
              <a:ext uri="{FF2B5EF4-FFF2-40B4-BE49-F238E27FC236}">
                <a16:creationId xmlns:a16="http://schemas.microsoft.com/office/drawing/2014/main" id="{1A238009-238C-4734-ADA6-0B73EADBFF1C}"/>
              </a:ext>
            </a:extLst>
          </p:cNvPr>
          <p:cNvSpPr>
            <a:spLocks xmlns:a="http://schemas.openxmlformats.org/drawingml/2006/main" noGrp="1"/>
          </p:cNvSpPr>
          <p:nvPr/>
        </p:nvSpPr>
        <p:spPr>
          <a:xfrm xmlns:a="http://schemas.openxmlformats.org/drawingml/2006/main">
            <a:off x="6858000" y="2019300"/>
            <a:ext cx="4724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Una alerta de precio</a:t>
            </a:r>
          </a:p>
        </p:txBody>
      </p:sp>
      <p:sp>
        <p:nvSpPr>
          <p:cNvPr id="9" name="">
            <a:extLst xmlns:a="http://schemas.openxmlformats.org/drawingml/2006/main">
              <a:ext uri="{FF2B5EF4-FFF2-40B4-BE49-F238E27FC236}">
                <a16:creationId xmlns:a16="http://schemas.microsoft.com/office/drawing/2014/main" id="{6CEEB120-AE3F-4B7C-839B-EEB77577E50F}"/>
              </a:ext>
            </a:extLst>
          </p:cNvPr>
          <p:cNvSpPr>
            <a:spLocks xmlns:a="http://schemas.openxmlformats.org/drawingml/2006/main" noGrp="1"/>
          </p:cNvSpPr>
          <p:nvPr/>
        </p:nvSpPr>
        <p:spPr>
          <a:xfrm xmlns:a="http://schemas.openxmlformats.org/drawingml/2006/main">
            <a:off x="6877050" y="2876550"/>
            <a:ext cx="472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477"/>
                </a:solidFill>
                <a:latin typeface="Helvetica Neue"/>
                <a:ea typeface="Helvetica Neue"/>
                <a:cs typeface="Helvetica Neue"/>
              </a:defRPr>
            </a:pPr>
            <a:r>
              <a:rPr sz="1650" b="0">
                <a:solidFill>
                  <a:srgbClr val="596477"/>
                </a:solidFill>
                <a:latin typeface="Helvetica Neue"/>
                <a:ea typeface="Helvetica Neue"/>
                <a:cs typeface="Helvetica Neue"/>
              </a:rPr>
              <a:t>Total registrado</a:t>
            </a:r>
          </a:p>
        </p:txBody>
      </p:sp>
      <p:sp>
        <p:nvSpPr>
          <p:cNvPr id="10" name="">
            <a:extLst xmlns:a="http://schemas.openxmlformats.org/drawingml/2006/main">
              <a:ext uri="{FF2B5EF4-FFF2-40B4-BE49-F238E27FC236}">
                <a16:creationId xmlns:a16="http://schemas.microsoft.com/office/drawing/2014/main" id="{598A785F-540E-4A64-A96E-CBF8C9BCD95A}"/>
              </a:ext>
            </a:extLst>
          </p:cNvPr>
          <p:cNvSpPr>
            <a:spLocks xmlns:a="http://schemas.openxmlformats.org/drawingml/2006/main" noGrp="1"/>
          </p:cNvSpPr>
          <p:nvPr/>
        </p:nvSpPr>
        <p:spPr>
          <a:xfrm xmlns:a="http://schemas.openxmlformats.org/drawingml/2006/main">
            <a:off x="6848475" y="3295650"/>
            <a:ext cx="466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2339"/>
                </a:solidFill>
                <a:latin typeface="Helvetica Neue"/>
                <a:ea typeface="Helvetica Neue"/>
                <a:cs typeface="Helvetica Neue"/>
              </a:defRPr>
            </a:pPr>
            <a:r>
              <a:rPr sz="3150" b="1">
                <a:solidFill>
                  <a:srgbClr val="182339"/>
                </a:solidFill>
                <a:latin typeface="Helvetica Neue"/>
                <a:ea typeface="Helvetica Neue"/>
                <a:cs typeface="Helvetica Neue"/>
              </a:rPr>
              <a:t>$388,689,722</a:t>
            </a:r>
          </a:p>
        </p:txBody>
      </p:sp>
      <p:sp>
        <p:nvSpPr>
          <p:cNvPr id="11" name="">
            <a:extLst xmlns:a="http://schemas.openxmlformats.org/drawingml/2006/main">
              <a:ext uri="{FF2B5EF4-FFF2-40B4-BE49-F238E27FC236}">
                <a16:creationId xmlns:a16="http://schemas.microsoft.com/office/drawing/2014/main" id="{E09F52A1-6DA5-42F7-8E4E-84CC0365A34C}"/>
              </a:ext>
            </a:extLst>
          </p:cNvPr>
          <p:cNvSpPr>
            <a:spLocks xmlns:a="http://schemas.openxmlformats.org/drawingml/2006/main" noGrp="1"/>
          </p:cNvSpPr>
          <p:nvPr/>
        </p:nvSpPr>
        <p:spPr>
          <a:xfrm xmlns:a="http://schemas.openxmlformats.org/drawingml/2006/main">
            <a:off x="6877050" y="4095750"/>
            <a:ext cx="472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477"/>
                </a:solidFill>
                <a:latin typeface="Helvetica Neue"/>
                <a:ea typeface="Helvetica Neue"/>
                <a:cs typeface="Helvetica Neue"/>
              </a:defRPr>
            </a:pPr>
            <a:r>
              <a:rPr sz="1650" b="0">
                <a:solidFill>
                  <a:srgbClr val="596477"/>
                </a:solidFill>
                <a:latin typeface="Helvetica Neue"/>
                <a:ea typeface="Helvetica Neue"/>
                <a:cs typeface="Helvetica Neue"/>
              </a:rPr>
              <a:t>Superficie × precio por m²</a:t>
            </a:r>
          </a:p>
        </p:txBody>
      </p:sp>
      <p:sp>
        <p:nvSpPr>
          <p:cNvPr id="12" name="">
            <a:extLst xmlns:a="http://schemas.openxmlformats.org/drawingml/2006/main">
              <a:ext uri="{FF2B5EF4-FFF2-40B4-BE49-F238E27FC236}">
                <a16:creationId xmlns:a16="http://schemas.microsoft.com/office/drawing/2014/main" id="{D8A1513C-EC42-4404-8836-FC5DFBCA4B59}"/>
              </a:ext>
            </a:extLst>
          </p:cNvPr>
          <p:cNvSpPr>
            <a:spLocks xmlns:a="http://schemas.openxmlformats.org/drawingml/2006/main" noGrp="1"/>
          </p:cNvSpPr>
          <p:nvPr/>
        </p:nvSpPr>
        <p:spPr>
          <a:xfrm xmlns:a="http://schemas.openxmlformats.org/drawingml/2006/main">
            <a:off x="6848475" y="4543425"/>
            <a:ext cx="4667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A551B"/>
                </a:solidFill>
                <a:latin typeface="Helvetica Neue"/>
                <a:ea typeface="Helvetica Neue"/>
                <a:cs typeface="Helvetica Neue"/>
              </a:defRPr>
            </a:pPr>
            <a:r>
              <a:rPr sz="3150" b="1">
                <a:solidFill>
                  <a:srgbClr val="9A551B"/>
                </a:solidFill>
                <a:latin typeface="Helvetica Neue"/>
                <a:ea typeface="Helvetica Neue"/>
                <a:cs typeface="Helvetica Neue"/>
              </a:rPr>
              <a:t>$38,657,322</a:t>
            </a:r>
          </a:p>
        </p:txBody>
      </p:sp>
      <p:sp>
        <p:nvSpPr>
          <p:cNvPr id="13" name="">
            <a:extLst xmlns:a="http://schemas.openxmlformats.org/drawingml/2006/main">
              <a:ext uri="{FF2B5EF4-FFF2-40B4-BE49-F238E27FC236}">
                <a16:creationId xmlns:a16="http://schemas.microsoft.com/office/drawing/2014/main" id="{DBB2568E-0E02-4654-AA01-D77DE63EFD24}"/>
              </a:ext>
            </a:extLst>
          </p:cNvPr>
          <p:cNvSpPr>
            <a:spLocks xmlns:a="http://schemas.openxmlformats.org/drawingml/2006/main" noGrp="1"/>
          </p:cNvSpPr>
          <p:nvPr/>
        </p:nvSpPr>
        <p:spPr>
          <a:xfrm xmlns:a="http://schemas.openxmlformats.org/drawingml/2006/main">
            <a:off x="581025" y="5695950"/>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A551B"/>
                </a:solidFill>
                <a:latin typeface="Helvetica Neue"/>
                <a:ea typeface="Helvetica Neue"/>
                <a:cs typeface="Helvetica Neue"/>
              </a:defRPr>
            </a:pPr>
            <a:r>
              <a:rPr sz="1650" b="0">
                <a:solidFill>
                  <a:srgbClr val="9A551B"/>
                </a:solidFill>
                <a:latin typeface="Helvetica Neue"/>
                <a:ea typeface="Helvetica Neue"/>
                <a:cs typeface="Helvetica Neue"/>
              </a:rPr>
              <a:t>Ejemplo: Marceñas. Requiere revisión; no es una cotización validada.</a:t>
            </a:r>
          </a:p>
        </p:txBody>
      </p:sp>
      <p:sp>
        <p:nvSpPr>
          <p:cNvPr id="14" name="">
            <a:extLst xmlns:a="http://schemas.openxmlformats.org/drawingml/2006/main">
              <a:ext uri="{FF2B5EF4-FFF2-40B4-BE49-F238E27FC236}">
                <a16:creationId xmlns:a16="http://schemas.microsoft.com/office/drawing/2014/main" id="{6590441F-663D-44C1-A338-23F0E625439A}"/>
              </a:ext>
            </a:extLst>
          </p:cNvPr>
          <p:cNvSpPr>
            <a:spLocks xmlns:a="http://schemas.openxmlformats.org/drawingml/2006/main" noGrp="1"/>
          </p:cNvSpPr>
          <p:nvPr/>
        </p:nvSpPr>
        <p:spPr>
          <a:xfrm xmlns:a="http://schemas.openxmlformats.org/drawingml/2006/main">
            <a:off x="581025" y="6134100"/>
            <a:ext cx="1093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477"/>
                </a:solidFill>
                <a:latin typeface="Helvetica Neue"/>
                <a:ea typeface="Helvetica Neue"/>
                <a:cs typeface="Helvetica Neue"/>
              </a:defRPr>
            </a:pPr>
            <a:r>
              <a:rPr sz="1200" b="0">
                <a:solidFill>
                  <a:srgbClr val="596477"/>
                </a:solidFill>
                <a:latin typeface="Helvetica Neue"/>
                <a:ea typeface="Helvetica Neue"/>
                <a:cs typeface="Helvetica Neue"/>
              </a:rPr>
              <a:t>Fuente: Base Terrenos 09.26 Gerardo · revisión del 30 de septiembre de 2026.</a:t>
            </a:r>
          </a:p>
        </p:txBody>
      </p:sp>
    </p:spTree>
    <p:extLst>
      <p:ext uri="{BB962C8B-B14F-4D97-AF65-F5344CB8AC3E}">
        <p14:creationId xmlns:p14="http://schemas.microsoft.com/office/powerpoint/2010/main" val="17900975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6AB78C-BB85-442F-8663-BAAAA693B2CA}"/>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12DD78FA-5269-47C1-A190-039DAB098C69}"/>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Qué podemos usar y qué falta cerrar</a:t>
            </a:r>
          </a:p>
        </p:txBody>
      </p:sp>
      <p:sp>
        <p:nvSpPr>
          <p:cNvPr id="3" name="">
            <a:extLst xmlns:a="http://schemas.openxmlformats.org/drawingml/2006/main">
              <a:ext uri="{FF2B5EF4-FFF2-40B4-BE49-F238E27FC236}">
                <a16:creationId xmlns:a16="http://schemas.microsoft.com/office/drawing/2014/main" id="{0DEF2D60-73DC-4E5C-B82A-D29DDB298E5E}"/>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0306E621-DD47-4C45-869E-72746EE7A0A5}"/>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F49A43CA-680A-4D2C-B578-F4BC05393E1E}"/>
              </a:ext>
            </a:extLst>
          </p:cNvPr>
          <p:cNvSpPr>
            <a:spLocks xmlns:a="http://schemas.openxmlformats.org/drawingml/2006/main" noGrp="1"/>
          </p:cNvSpPr>
          <p:nvPr/>
        </p:nvSpPr>
        <p:spPr>
          <a:xfrm xmlns:a="http://schemas.openxmlformats.org/drawingml/2006/main">
            <a:off x="552450" y="1914525"/>
            <a:ext cx="51339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0266B"/>
                </a:solidFill>
                <a:latin typeface="Helvetica Neue"/>
                <a:ea typeface="Helvetica Neue"/>
                <a:cs typeface="Helvetica Neue"/>
              </a:defRPr>
            </a:pPr>
            <a:r>
              <a:rPr sz="2550" b="1">
                <a:solidFill>
                  <a:srgbClr val="10266B"/>
                </a:solidFill>
                <a:latin typeface="Helvetica Neue"/>
                <a:ea typeface="Helvetica Neue"/>
                <a:cs typeface="Helvetica Neue"/>
              </a:rPr>
              <a:t>El flujo ya funciona</a:t>
            </a:r>
          </a:p>
        </p:txBody>
      </p:sp>
      <p:sp>
        <p:nvSpPr>
          <p:cNvPr id="6" name="">
            <a:extLst xmlns:a="http://schemas.openxmlformats.org/drawingml/2006/main">
              <a:ext uri="{FF2B5EF4-FFF2-40B4-BE49-F238E27FC236}">
                <a16:creationId xmlns:a16="http://schemas.microsoft.com/office/drawing/2014/main" id="{F46F2875-4D06-4B3C-AA61-6EAA02EDE32C}"/>
              </a:ext>
            </a:extLst>
          </p:cNvPr>
          <p:cNvSpPr>
            <a:spLocks xmlns:a="http://schemas.openxmlformats.org/drawingml/2006/main" noGrp="1"/>
          </p:cNvSpPr>
          <p:nvPr/>
        </p:nvSpPr>
        <p:spPr>
          <a:xfrm xmlns:a="http://schemas.openxmlformats.org/drawingml/2006/main">
            <a:off x="552450" y="2809875"/>
            <a:ext cx="5238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339"/>
                </a:solidFill>
                <a:latin typeface="Helvetica Neue"/>
                <a:ea typeface="Helvetica Neue"/>
                <a:cs typeface="Helvetica Neue"/>
              </a:defRPr>
            </a:pPr>
            <a:r>
              <a:rPr sz="2175" b="0">
                <a:solidFill>
                  <a:srgbClr val="182339"/>
                </a:solidFill>
                <a:latin typeface="Helvetica Neue"/>
                <a:ea typeface="Helvetica Neue"/>
                <a:cs typeface="Helvetica Neue"/>
              </a:rPr>
              <a:t>Consulta en escritorio</a:t>
            </a:r>
          </a:p>
          <a:p xmlns:a="http://schemas.openxmlformats.org/drawingml/2006/main">
            <a:pPr>
              <a:defRPr sz="2175" b="0">
                <a:solidFill>
                  <a:srgbClr val="182339"/>
                </a:solidFill>
                <a:latin typeface="Helvetica Neue"/>
                <a:ea typeface="Helvetica Neue"/>
                <a:cs typeface="Helvetica Neue"/>
              </a:defRPr>
            </a:pPr>
            <a:r>
              <a:rPr sz="2175" b="0">
                <a:solidFill>
                  <a:srgbClr val="182339"/>
                </a:solidFill>
                <a:latin typeface="Helvetica Neue"/>
                <a:ea typeface="Helvetica Neue"/>
                <a:cs typeface="Helvetica Neue"/>
              </a:rPr>
              <a:t>Mapas guardados y carpetas</a:t>
            </a:r>
          </a:p>
          <a:p xmlns:a="http://schemas.openxmlformats.org/drawingml/2006/main">
            <a:pPr>
              <a:defRPr sz="2175" b="0">
                <a:solidFill>
                  <a:srgbClr val="182339"/>
                </a:solidFill>
                <a:latin typeface="Helvetica Neue"/>
                <a:ea typeface="Helvetica Neue"/>
                <a:cs typeface="Helvetica Neue"/>
              </a:defRPr>
            </a:pPr>
            <a:r>
              <a:rPr sz="2175" b="0">
                <a:solidFill>
                  <a:srgbClr val="182339"/>
                </a:solidFill>
                <a:latin typeface="Helvetica Neue"/>
                <a:ea typeface="Helvetica Neue"/>
                <a:cs typeface="Helvetica Neue"/>
              </a:rPr>
              <a:t>Comparaciones y Excel</a:t>
            </a:r>
          </a:p>
        </p:txBody>
      </p:sp>
      <p:sp>
        <p:nvSpPr>
          <p:cNvPr id="7" name="">
            <a:extLst xmlns:a="http://schemas.openxmlformats.org/drawingml/2006/main">
              <a:ext uri="{FF2B5EF4-FFF2-40B4-BE49-F238E27FC236}">
                <a16:creationId xmlns:a16="http://schemas.microsoft.com/office/drawing/2014/main" id="{E3A44DC4-EAD3-4A2C-B70F-9734B932C4B7}"/>
              </a:ext>
            </a:extLst>
          </p:cNvPr>
          <p:cNvSpPr>
            <a:spLocks xmlns:a="http://schemas.openxmlformats.org/drawingml/2006/main" noGrp="1"/>
          </p:cNvSpPr>
          <p:nvPr/>
        </p:nvSpPr>
        <p:spPr>
          <a:xfrm xmlns:a="http://schemas.openxmlformats.org/drawingml/2006/main">
            <a:off x="6534150" y="1914525"/>
            <a:ext cx="50577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0266B"/>
                </a:solidFill>
                <a:latin typeface="Helvetica Neue"/>
                <a:ea typeface="Helvetica Neue"/>
                <a:cs typeface="Helvetica Neue"/>
              </a:defRPr>
            </a:pPr>
            <a:r>
              <a:rPr sz="2550" b="1">
                <a:solidFill>
                  <a:srgbClr val="10266B"/>
                </a:solidFill>
                <a:latin typeface="Helvetica Neue"/>
                <a:ea typeface="Helvetica Neue"/>
                <a:cs typeface="Helvetica Neue"/>
              </a:rPr>
              <a:t>Antes de la entrega operativa</a:t>
            </a:r>
          </a:p>
        </p:txBody>
      </p:sp>
      <p:sp>
        <p:nvSpPr>
          <p:cNvPr id="8" name="">
            <a:extLst xmlns:a="http://schemas.openxmlformats.org/drawingml/2006/main">
              <a:ext uri="{FF2B5EF4-FFF2-40B4-BE49-F238E27FC236}">
                <a16:creationId xmlns:a16="http://schemas.microsoft.com/office/drawing/2014/main" id="{4040A39D-4EAB-4540-9FA7-E0D7CEF01B62}"/>
              </a:ext>
            </a:extLst>
          </p:cNvPr>
          <p:cNvSpPr>
            <a:spLocks xmlns:a="http://schemas.openxmlformats.org/drawingml/2006/main" noGrp="1"/>
          </p:cNvSpPr>
          <p:nvPr/>
        </p:nvSpPr>
        <p:spPr>
          <a:xfrm xmlns:a="http://schemas.openxmlformats.org/drawingml/2006/main">
            <a:off x="6534150" y="290512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96477"/>
                </a:solidFill>
                <a:latin typeface="Helvetica Neue"/>
                <a:ea typeface="Helvetica Neue"/>
                <a:cs typeface="Helvetica Neue"/>
              </a:defRPr>
            </a:pPr>
            <a:r>
              <a:rPr sz="1950" b="0">
                <a:solidFill>
                  <a:srgbClr val="596477"/>
                </a:solidFill>
                <a:latin typeface="Helvetica Neue"/>
                <a:ea typeface="Helvetica Neue"/>
                <a:cs typeface="Helvetica Neue"/>
              </a:rPr>
              <a:t>Importaciones: moneda y selección de filas</a:t>
            </a:r>
          </a:p>
          <a:p xmlns:a="http://schemas.openxmlformats.org/drawingml/2006/main">
            <a:pPr>
              <a:defRPr sz="1950" b="0">
                <a:solidFill>
                  <a:srgbClr val="596477"/>
                </a:solidFill>
                <a:latin typeface="Helvetica Neue"/>
                <a:ea typeface="Helvetica Neue"/>
                <a:cs typeface="Helvetica Neue"/>
              </a:defRPr>
            </a:pPr>
            <a:r>
              <a:rPr sz="1950" b="0">
                <a:solidFill>
                  <a:srgbClr val="596477"/>
                </a:solidFill>
                <a:latin typeface="Helvetica Neue"/>
                <a:ea typeface="Helvetica Neue"/>
                <a:cs typeface="Helvetica Neue"/>
              </a:rPr>
              <a:t>Celular: acceso a búsqueda y filtros</a:t>
            </a:r>
          </a:p>
          <a:p xmlns:a="http://schemas.openxmlformats.org/drawingml/2006/main">
            <a:pPr>
              <a:defRPr sz="1950" b="0">
                <a:solidFill>
                  <a:srgbClr val="596477"/>
                </a:solidFill>
                <a:latin typeface="Helvetica Neue"/>
                <a:ea typeface="Helvetica Neue"/>
                <a:cs typeface="Helvetica Neue"/>
              </a:defRPr>
            </a:pPr>
            <a:r>
              <a:rPr sz="1950" b="0">
                <a:solidFill>
                  <a:srgbClr val="596477"/>
                </a:solidFill>
                <a:latin typeface="Helvetica Neue"/>
                <a:ea typeface="Helvetica Neue"/>
                <a:cs typeface="Helvetica Neue"/>
              </a:rPr>
              <a:t>Acceso: decidir si la consulta será privada</a:t>
            </a:r>
          </a:p>
        </p:txBody>
      </p:sp>
      <p:sp>
        <p:nvSpPr>
          <p:cNvPr id="9" name="">
            <a:extLst xmlns:a="http://schemas.openxmlformats.org/drawingml/2006/main">
              <a:ext uri="{FF2B5EF4-FFF2-40B4-BE49-F238E27FC236}">
                <a16:creationId xmlns:a16="http://schemas.microsoft.com/office/drawing/2014/main" id="{5DB07C61-650F-4950-803F-3C7A9F2342BC}"/>
              </a:ext>
            </a:extLst>
          </p:cNvPr>
          <p:cNvSpPr>
            <a:spLocks xmlns:a="http://schemas.openxmlformats.org/drawingml/2006/main" noGrp="1"/>
          </p:cNvSpPr>
          <p:nvPr/>
        </p:nvSpPr>
        <p:spPr>
          <a:xfrm xmlns:a="http://schemas.openxmlformats.org/drawingml/2006/main">
            <a:off x="552450" y="5381625"/>
            <a:ext cx="110299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A551B"/>
                </a:solidFill>
                <a:latin typeface="Helvetica Neue"/>
                <a:ea typeface="Helvetica Neue"/>
                <a:cs typeface="Helvetica Neue"/>
              </a:defRPr>
            </a:pPr>
            <a:r>
              <a:rPr sz="1725" b="0">
                <a:solidFill>
                  <a:srgbClr val="9A551B"/>
                </a:solidFill>
                <a:latin typeface="Helvetica Neue"/>
                <a:ea typeface="Helvetica Neue"/>
                <a:cs typeface="Helvetica Neue"/>
              </a:rPr>
              <a:t>Hoy el inicio de sesión protege la edición; la consulta y la exportación son públicas.</a:t>
            </a:r>
          </a:p>
        </p:txBody>
      </p:sp>
      <p:sp>
        <p:nvSpPr>
          <p:cNvPr id="10" name="">
            <a:extLst xmlns:a="http://schemas.openxmlformats.org/drawingml/2006/main">
              <a:ext uri="{FF2B5EF4-FFF2-40B4-BE49-F238E27FC236}">
                <a16:creationId xmlns:a16="http://schemas.microsoft.com/office/drawing/2014/main" id="{233F916C-009E-4D8B-B0BC-EC5B8833EA59}"/>
              </a:ext>
            </a:extLst>
          </p:cNvPr>
          <p:cNvSpPr>
            <a:spLocks xmlns:a="http://schemas.openxmlformats.org/drawingml/2006/main" noGrp="1"/>
          </p:cNvSpPr>
          <p:nvPr/>
        </p:nvSpPr>
        <p:spPr>
          <a:xfrm xmlns:a="http://schemas.openxmlformats.org/drawingml/2006/main">
            <a:off x="552450" y="6067425"/>
            <a:ext cx="11029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IA sin activar. La demostración utiliza detección y revisión del usuario.</a:t>
            </a:r>
          </a:p>
        </p:txBody>
      </p:sp>
    </p:spTree>
    <p:extLst>
      <p:ext uri="{BB962C8B-B14F-4D97-AF65-F5344CB8AC3E}">
        <p14:creationId xmlns:p14="http://schemas.microsoft.com/office/powerpoint/2010/main" val="2538900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BF1C579-F314-4BB7-BB47-1C7AE0C8D7E7}"/>
              </a:ext>
            </a:extLst>
          </p:cNvPr>
          <p:cNvSpPr>
            <a:spLocks xmlns:a="http://schemas.openxmlformats.org/drawingml/2006/main" noGrp="1"/>
          </p:cNvSpPr>
          <p:nvPr/>
        </p:nvSpPr>
        <p:spPr>
          <a:xfrm xmlns:a="http://schemas.openxmlformats.org/drawingml/2006/main">
            <a:off x="552450" y="2571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4BEC"/>
                </a:solidFill>
                <a:latin typeface="Helvetica Neue"/>
                <a:ea typeface="Helvetica Neue"/>
                <a:cs typeface="Helvetica Neue"/>
              </a:defRPr>
            </a:pPr>
            <a:r>
              <a:rPr sz="1200" b="1">
                <a:solidFill>
                  <a:srgbClr val="234BEC"/>
                </a:solidFill>
                <a:latin typeface="Helvetica Neue"/>
                <a:ea typeface="Helvetica Neue"/>
                <a:cs typeface="Helvetica Neue"/>
              </a:rPr>
              <a:t>ARA MAP · DEMOSTRACIÓN</a:t>
            </a:r>
          </a:p>
        </p:txBody>
      </p:sp>
      <p:sp>
        <p:nvSpPr>
          <p:cNvPr id="2" name="">
            <a:extLst xmlns:a="http://schemas.openxmlformats.org/drawingml/2006/main">
              <a:ext uri="{FF2B5EF4-FFF2-40B4-BE49-F238E27FC236}">
                <a16:creationId xmlns:a16="http://schemas.microsoft.com/office/drawing/2014/main" id="{213AC9D5-95F3-4866-880A-C3F0659566BE}"/>
              </a:ext>
            </a:extLst>
          </p:cNvPr>
          <p:cNvSpPr>
            <a:spLocks xmlns:a="http://schemas.openxmlformats.org/drawingml/2006/main" noGrp="1"/>
          </p:cNvSpPr>
          <p:nvPr/>
        </p:nvSpPr>
        <p:spPr>
          <a:xfrm xmlns:a="http://schemas.openxmlformats.org/drawingml/2006/main">
            <a:off x="552450" y="68580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66B"/>
                </a:solidFill>
                <a:latin typeface="Helvetica Neue"/>
                <a:ea typeface="Helvetica Neue"/>
                <a:cs typeface="Helvetica Neue"/>
              </a:defRPr>
            </a:pPr>
            <a:r>
              <a:rPr sz="3225" b="1">
                <a:solidFill>
                  <a:srgbClr val="10266B"/>
                </a:solidFill>
                <a:latin typeface="Helvetica Neue"/>
                <a:ea typeface="Helvetica Neue"/>
                <a:cs typeface="Helvetica Neue"/>
              </a:rPr>
              <a:t>Acordar un piloto con criterios claros</a:t>
            </a:r>
          </a:p>
        </p:txBody>
      </p:sp>
      <p:sp>
        <p:nvSpPr>
          <p:cNvPr id="3" name="">
            <a:extLst xmlns:a="http://schemas.openxmlformats.org/drawingml/2006/main">
              <a:ext uri="{FF2B5EF4-FFF2-40B4-BE49-F238E27FC236}">
                <a16:creationId xmlns:a16="http://schemas.microsoft.com/office/drawing/2014/main" id="{A682E28E-BC0C-4342-B2F3-C435F7D8DE36}"/>
              </a:ext>
            </a:extLst>
          </p:cNvPr>
          <p:cNvSpPr>
            <a:spLocks xmlns:a="http://schemas.openxmlformats.org/drawingml/2006/main" noGrp="1"/>
          </p:cNvSpPr>
          <p:nvPr/>
        </p:nvSpPr>
        <p:spPr>
          <a:xfrm xmlns:a="http://schemas.openxmlformats.org/drawingml/2006/main">
            <a:off x="552450" y="64198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477"/>
                </a:solidFill>
                <a:latin typeface="Helvetica Neue"/>
                <a:ea typeface="Helvetica Neue"/>
                <a:cs typeface="Helvetica Neue"/>
              </a:defRPr>
            </a:pPr>
            <a:r>
              <a:rPr sz="1125" b="0">
                <a:solidFill>
                  <a:srgbClr val="596477"/>
                </a:solidFill>
                <a:latin typeface="Helvetica Neue"/>
                <a:ea typeface="Helvetica Neue"/>
                <a:cs typeface="Helvetica Neue"/>
              </a:rPr>
              <a:t>1 OCT 2026  ·  Consulta de terrenos</a:t>
            </a:r>
          </a:p>
        </p:txBody>
      </p:sp>
      <p:sp>
        <p:nvSpPr>
          <p:cNvPr id="4" name="">
            <a:extLst xmlns:a="http://schemas.openxmlformats.org/drawingml/2006/main">
              <a:ext uri="{FF2B5EF4-FFF2-40B4-BE49-F238E27FC236}">
                <a16:creationId xmlns:a16="http://schemas.microsoft.com/office/drawing/2014/main" id="{F4996D6B-3153-45FA-979A-8FDE3DE600A1}"/>
              </a:ext>
            </a:extLst>
          </p:cNvPr>
          <p:cNvSpPr>
            <a:spLocks xmlns:a="http://schemas.openxmlformats.org/drawingml/2006/main" noGrp="1"/>
          </p:cNvSpPr>
          <p:nvPr/>
        </p:nvSpPr>
        <p:spPr>
          <a:xfrm xmlns:a="http://schemas.openxmlformats.org/drawingml/2006/main">
            <a:off x="1106805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477"/>
                </a:solidFill>
                <a:latin typeface="Helvetica Neue"/>
                <a:ea typeface="Helvetica Neue"/>
                <a:cs typeface="Helvetica Neue"/>
              </a:defRPr>
            </a:pPr>
            <a:r>
              <a:rPr sz="1425" b="0">
                <a:solidFill>
                  <a:srgbClr val="596477"/>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70B4E19-E01F-4420-9614-977AF8609BD3}"/>
              </a:ext>
            </a:extLst>
          </p:cNvPr>
          <p:cNvSpPr>
            <a:spLocks xmlns:a="http://schemas.openxmlformats.org/drawingml/2006/main" noGrp="1"/>
          </p:cNvSpPr>
          <p:nvPr/>
        </p:nvSpPr>
        <p:spPr>
          <a:xfrm xmlns:a="http://schemas.openxmlformats.org/drawingml/2006/main">
            <a:off x="552450" y="2019300"/>
            <a:ext cx="895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34BEC"/>
                </a:solidFill>
                <a:latin typeface="Helvetica Neue"/>
                <a:ea typeface="Helvetica Neue"/>
                <a:cs typeface="Helvetica Neue"/>
              </a:defRPr>
            </a:pPr>
            <a:r>
              <a:rPr sz="3225" b="0">
                <a:solidFill>
                  <a:srgbClr val="234BEC"/>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4BEA6AB5-A73E-4C7E-BA82-85044186D2E7}"/>
              </a:ext>
            </a:extLst>
          </p:cNvPr>
          <p:cNvSpPr>
            <a:spLocks xmlns:a="http://schemas.openxmlformats.org/drawingml/2006/main" noGrp="1"/>
          </p:cNvSpPr>
          <p:nvPr/>
        </p:nvSpPr>
        <p:spPr>
          <a:xfrm xmlns:a="http://schemas.openxmlformats.org/drawingml/2006/main">
            <a:off x="1752600" y="2028825"/>
            <a:ext cx="9763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Elegir el archivo real</a:t>
            </a:r>
          </a:p>
        </p:txBody>
      </p:sp>
      <p:sp>
        <p:nvSpPr>
          <p:cNvPr id="7" name="">
            <a:extLst xmlns:a="http://schemas.openxmlformats.org/drawingml/2006/main">
              <a:ext uri="{FF2B5EF4-FFF2-40B4-BE49-F238E27FC236}">
                <a16:creationId xmlns:a16="http://schemas.microsoft.com/office/drawing/2014/main" id="{3DA824FD-FB17-48EB-B6F4-E0BB22057961}"/>
              </a:ext>
            </a:extLst>
          </p:cNvPr>
          <p:cNvSpPr>
            <a:spLocks xmlns:a="http://schemas.openxmlformats.org/drawingml/2006/main" noGrp="1"/>
          </p:cNvSpPr>
          <p:nvPr/>
        </p:nvSpPr>
        <p:spPr>
          <a:xfrm xmlns:a="http://schemas.openxmlformats.org/drawingml/2006/main">
            <a:off x="1752600" y="2600325"/>
            <a:ext cx="976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Definir los terrenos y las consultas que deben resolverse.</a:t>
            </a:r>
          </a:p>
        </p:txBody>
      </p:sp>
      <p:sp>
        <p:nvSpPr>
          <p:cNvPr id="8" name="">
            <a:extLst xmlns:a="http://schemas.openxmlformats.org/drawingml/2006/main">
              <a:ext uri="{FF2B5EF4-FFF2-40B4-BE49-F238E27FC236}">
                <a16:creationId xmlns:a16="http://schemas.microsoft.com/office/drawing/2014/main" id="{362C302A-78F2-4933-8130-DC125A46D676}"/>
              </a:ext>
            </a:extLst>
          </p:cNvPr>
          <p:cNvSpPr>
            <a:spLocks xmlns:a="http://schemas.openxmlformats.org/drawingml/2006/main" noGrp="1"/>
          </p:cNvSpPr>
          <p:nvPr/>
        </p:nvSpPr>
        <p:spPr>
          <a:xfrm xmlns:a="http://schemas.openxmlformats.org/drawingml/2006/main">
            <a:off x="552450" y="3343275"/>
            <a:ext cx="895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34BEC"/>
                </a:solidFill>
                <a:latin typeface="Helvetica Neue"/>
                <a:ea typeface="Helvetica Neue"/>
                <a:cs typeface="Helvetica Neue"/>
              </a:defRPr>
            </a:pPr>
            <a:r>
              <a:rPr sz="3225" b="0">
                <a:solidFill>
                  <a:srgbClr val="234BEC"/>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2BF8E43C-BC59-46F6-9D58-6BA8A655DA33}"/>
              </a:ext>
            </a:extLst>
          </p:cNvPr>
          <p:cNvSpPr>
            <a:spLocks xmlns:a="http://schemas.openxmlformats.org/drawingml/2006/main" noGrp="1"/>
          </p:cNvSpPr>
          <p:nvPr/>
        </p:nvSpPr>
        <p:spPr>
          <a:xfrm xmlns:a="http://schemas.openxmlformats.org/drawingml/2006/main">
            <a:off x="1752600" y="3352800"/>
            <a:ext cx="9763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Cerrar los pendientes</a:t>
            </a:r>
          </a:p>
        </p:txBody>
      </p:sp>
      <p:sp>
        <p:nvSpPr>
          <p:cNvPr id="10" name="">
            <a:extLst xmlns:a="http://schemas.openxmlformats.org/drawingml/2006/main">
              <a:ext uri="{FF2B5EF4-FFF2-40B4-BE49-F238E27FC236}">
                <a16:creationId xmlns:a16="http://schemas.microsoft.com/office/drawing/2014/main" id="{9F6579A6-8ABD-4216-A2C9-C54922698D56}"/>
              </a:ext>
            </a:extLst>
          </p:cNvPr>
          <p:cNvSpPr>
            <a:spLocks xmlns:a="http://schemas.openxmlformats.org/drawingml/2006/main" noGrp="1"/>
          </p:cNvSpPr>
          <p:nvPr/>
        </p:nvSpPr>
        <p:spPr>
          <a:xfrm xmlns:a="http://schemas.openxmlformats.org/drawingml/2006/main">
            <a:off x="1752600" y="3924300"/>
            <a:ext cx="976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Corregir importaciones, uso móvil y reglas de acceso.</a:t>
            </a:r>
          </a:p>
        </p:txBody>
      </p:sp>
      <p:sp>
        <p:nvSpPr>
          <p:cNvPr id="11" name="">
            <a:extLst xmlns:a="http://schemas.openxmlformats.org/drawingml/2006/main">
              <a:ext uri="{FF2B5EF4-FFF2-40B4-BE49-F238E27FC236}">
                <a16:creationId xmlns:a16="http://schemas.microsoft.com/office/drawing/2014/main" id="{DEB13290-CE92-45C9-BE23-7C4B17862377}"/>
              </a:ext>
            </a:extLst>
          </p:cNvPr>
          <p:cNvSpPr>
            <a:spLocks xmlns:a="http://schemas.openxmlformats.org/drawingml/2006/main" noGrp="1"/>
          </p:cNvSpPr>
          <p:nvPr/>
        </p:nvSpPr>
        <p:spPr>
          <a:xfrm xmlns:a="http://schemas.openxmlformats.org/drawingml/2006/main">
            <a:off x="552450" y="4667250"/>
            <a:ext cx="895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234BEC"/>
                </a:solidFill>
                <a:latin typeface="Helvetica Neue"/>
                <a:ea typeface="Helvetica Neue"/>
                <a:cs typeface="Helvetica Neue"/>
              </a:defRPr>
            </a:pPr>
            <a:r>
              <a:rPr sz="3225" b="0">
                <a:solidFill>
                  <a:srgbClr val="234BEC"/>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B0F82AE1-EB5B-49F5-9227-D5ED728D7AAC}"/>
              </a:ext>
            </a:extLst>
          </p:cNvPr>
          <p:cNvSpPr>
            <a:spLocks xmlns:a="http://schemas.openxmlformats.org/drawingml/2006/main" noGrp="1"/>
          </p:cNvSpPr>
          <p:nvPr/>
        </p:nvSpPr>
        <p:spPr>
          <a:xfrm xmlns:a="http://schemas.openxmlformats.org/drawingml/2006/main">
            <a:off x="1752600" y="4676775"/>
            <a:ext cx="9763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66B"/>
                </a:solidFill>
                <a:latin typeface="Helvetica Neue"/>
                <a:ea typeface="Helvetica Neue"/>
                <a:cs typeface="Helvetica Neue"/>
              </a:defRPr>
            </a:pPr>
            <a:r>
              <a:rPr sz="2475" b="1">
                <a:solidFill>
                  <a:srgbClr val="10266B"/>
                </a:solidFill>
                <a:latin typeface="Helvetica Neue"/>
                <a:ea typeface="Helvetica Neue"/>
                <a:cs typeface="Helvetica Neue"/>
              </a:rPr>
              <a:t>Probar con quien lo utilizará</a:t>
            </a:r>
          </a:p>
        </p:txBody>
      </p:sp>
      <p:sp>
        <p:nvSpPr>
          <p:cNvPr id="13" name="">
            <a:extLst xmlns:a="http://schemas.openxmlformats.org/drawingml/2006/main">
              <a:ext uri="{FF2B5EF4-FFF2-40B4-BE49-F238E27FC236}">
                <a16:creationId xmlns:a16="http://schemas.microsoft.com/office/drawing/2014/main" id="{A4F3CE7F-000A-470F-8184-901B66409FD2}"/>
              </a:ext>
            </a:extLst>
          </p:cNvPr>
          <p:cNvSpPr>
            <a:spLocks xmlns:a="http://schemas.openxmlformats.org/drawingml/2006/main" noGrp="1"/>
          </p:cNvSpPr>
          <p:nvPr/>
        </p:nvSpPr>
        <p:spPr>
          <a:xfrm xmlns:a="http://schemas.openxmlformats.org/drawingml/2006/main">
            <a:off x="1752600" y="5248275"/>
            <a:ext cx="976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477"/>
                </a:solidFill>
                <a:latin typeface="Helvetica Neue"/>
                <a:ea typeface="Helvetica Neue"/>
                <a:cs typeface="Helvetica Neue"/>
              </a:defRPr>
            </a:pPr>
            <a:r>
              <a:rPr sz="1875" b="0">
                <a:solidFill>
                  <a:srgbClr val="596477"/>
                </a:solidFill>
                <a:latin typeface="Helvetica Neue"/>
                <a:ea typeface="Helvetica Neue"/>
                <a:cs typeface="Helvetica Neue"/>
              </a:rPr>
              <a:t>Validar los resultados antes de aceptar la primera versión.</a:t>
            </a:r>
          </a:p>
        </p:txBody>
      </p:sp>
      <p:sp>
        <p:nvSpPr>
          <p:cNvPr id="14" name="">
            <a:extLst xmlns:a="http://schemas.openxmlformats.org/drawingml/2006/main">
              <a:ext uri="{FF2B5EF4-FFF2-40B4-BE49-F238E27FC236}">
                <a16:creationId xmlns:a16="http://schemas.microsoft.com/office/drawing/2014/main" id="{2584110B-1BC7-48DD-A62E-810EE52ADFFA}"/>
              </a:ext>
            </a:extLst>
          </p:cNvPr>
          <p:cNvSpPr>
            <a:spLocks xmlns:a="http://schemas.openxmlformats.org/drawingml/2006/main" noGrp="1"/>
          </p:cNvSpPr>
          <p:nvPr/>
        </p:nvSpPr>
        <p:spPr>
          <a:xfrm xmlns:a="http://schemas.openxmlformats.org/drawingml/2006/main">
            <a:off x="552450" y="6010275"/>
            <a:ext cx="11001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34BEC"/>
                </a:solidFill>
                <a:latin typeface="Helvetica Neue"/>
                <a:ea typeface="Helvetica Neue"/>
                <a:cs typeface="Helvetica Neue"/>
              </a:defRPr>
            </a:pPr>
            <a:r>
              <a:rPr sz="1650" b="0">
                <a:solidFill>
                  <a:srgbClr val="234BEC"/>
                </a:solidFill>
                <a:latin typeface="Helvetica Neue"/>
                <a:ea typeface="Helvetica Neue"/>
                <a:cs typeface="Helvetica Neue"/>
              </a:rPr>
              <a:t>Mejora propuesta: completar datos faltantes; después, una ficha para enviar al cliente.</a:t>
            </a:r>
          </a:p>
        </p:txBody>
      </p:sp>
    </p:spTree>
    <p:extLst>
      <p:ext uri="{BB962C8B-B14F-4D97-AF65-F5344CB8AC3E}">
        <p14:creationId xmlns:p14="http://schemas.microsoft.com/office/powerpoint/2010/main" val="7346848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2026-10-01T00:43:59.5040000Z</dcterms:created>
  <dcterms:modified xsi:type="dcterms:W3CDTF">2026-10-01T00:43:59.5040000Z</dcterms:modified>
</coreProperties>
</file>